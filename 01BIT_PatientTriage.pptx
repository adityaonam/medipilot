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ial" charset="1" panose="020B0604020202020204"/>
      <p:regular r:id="rId13"/>
    </p:embeddedFont>
    <p:embeddedFont>
      <p:font typeface="Arial Bold" charset="1" panose="020B0704020202020204"/>
      <p:regular r:id="rId14"/>
    </p:embeddedFont>
    <p:embeddedFont>
      <p:font typeface="Canva Sans" charset="1" panose="020B05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jpeg" Type="http://schemas.openxmlformats.org/officeDocument/2006/relationships/image"/><Relationship Id="rId4" Target="../media/image7.png" Type="http://schemas.openxmlformats.org/officeDocument/2006/relationships/image"/><Relationship Id="rId5" Target="../media/image8.jpeg" Type="http://schemas.openxmlformats.org/officeDocument/2006/relationships/image"/><Relationship Id="rId6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png" Type="http://schemas.openxmlformats.org/officeDocument/2006/relationships/image"/><Relationship Id="rId12" Target="../media/image20.png" Type="http://schemas.openxmlformats.org/officeDocument/2006/relationships/image"/><Relationship Id="rId13" Target="../media/image21.png" Type="http://schemas.openxmlformats.org/officeDocument/2006/relationships/image"/><Relationship Id="rId14" Target="../media/image22.png" Type="http://schemas.openxmlformats.org/officeDocument/2006/relationships/image"/><Relationship Id="rId15" Target="../media/image23.png" Type="http://schemas.openxmlformats.org/officeDocument/2006/relationships/image"/><Relationship Id="rId16" Target="../media/image24.png" Type="http://schemas.openxmlformats.org/officeDocument/2006/relationships/image"/><Relationship Id="rId17" Target="../media/image25.png" Type="http://schemas.openxmlformats.org/officeDocument/2006/relationships/image"/><Relationship Id="rId18" Target="../media/image26.png" Type="http://schemas.openxmlformats.org/officeDocument/2006/relationships/image"/><Relationship Id="rId19" Target="../media/image27.png" Type="http://schemas.openxmlformats.org/officeDocument/2006/relationships/image"/><Relationship Id="rId2" Target="../media/image10.png" Type="http://schemas.openxmlformats.org/officeDocument/2006/relationships/image"/><Relationship Id="rId20" Target="../media/image28.png" Type="http://schemas.openxmlformats.org/officeDocument/2006/relationships/image"/><Relationship Id="rId21" Target="../media/image29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38.png" Type="http://schemas.openxmlformats.org/officeDocument/2006/relationships/image"/><Relationship Id="rId12" Target="../media/image39.png" Type="http://schemas.openxmlformats.org/officeDocument/2006/relationships/image"/><Relationship Id="rId13" Target="../media/image40.png" Type="http://schemas.openxmlformats.org/officeDocument/2006/relationships/image"/><Relationship Id="rId14" Target="../media/image41.png" Type="http://schemas.openxmlformats.org/officeDocument/2006/relationships/image"/><Relationship Id="rId15" Target="../media/image42.png" Type="http://schemas.openxmlformats.org/officeDocument/2006/relationships/image"/><Relationship Id="rId16" Target="../media/image43.png" Type="http://schemas.openxmlformats.org/officeDocument/2006/relationships/image"/><Relationship Id="rId17" Target="../media/image44.png" Type="http://schemas.openxmlformats.org/officeDocument/2006/relationships/image"/><Relationship Id="rId18" Target="../media/image45.png" Type="http://schemas.openxmlformats.org/officeDocument/2006/relationships/image"/><Relationship Id="rId19" Target="../media/image46.png" Type="http://schemas.openxmlformats.org/officeDocument/2006/relationships/image"/><Relationship Id="rId2" Target="../media/image30.png" Type="http://schemas.openxmlformats.org/officeDocument/2006/relationships/image"/><Relationship Id="rId20" Target="../media/image47.png" Type="http://schemas.openxmlformats.org/officeDocument/2006/relationships/image"/><Relationship Id="rId21" Target="../media/image48.png" Type="http://schemas.openxmlformats.org/officeDocument/2006/relationships/image"/><Relationship Id="rId22" Target="../media/image49.png" Type="http://schemas.openxmlformats.org/officeDocument/2006/relationships/image"/><Relationship Id="rId23" Target="../media/image50.png" Type="http://schemas.openxmlformats.org/officeDocument/2006/relationships/image"/><Relationship Id="rId24" Target="../media/image51.png" Type="http://schemas.openxmlformats.org/officeDocument/2006/relationships/image"/><Relationship Id="rId25" Target="../media/image52.png" Type="http://schemas.openxmlformats.org/officeDocument/2006/relationships/image"/><Relationship Id="rId26" Target="../media/image53.png" Type="http://schemas.openxmlformats.org/officeDocument/2006/relationships/image"/><Relationship Id="rId27" Target="../media/image54.png" Type="http://schemas.openxmlformats.org/officeDocument/2006/relationships/image"/><Relationship Id="rId28" Target="../media/image55.png" Type="http://schemas.openxmlformats.org/officeDocument/2006/relationships/image"/><Relationship Id="rId29" Target="../media/image56.png" Type="http://schemas.openxmlformats.org/officeDocument/2006/relationships/image"/><Relationship Id="rId3" Target="../media/image31.png" Type="http://schemas.openxmlformats.org/officeDocument/2006/relationships/image"/><Relationship Id="rId30" Target="../media/image57.png" Type="http://schemas.openxmlformats.org/officeDocument/2006/relationships/image"/><Relationship Id="rId31" Target="../media/image58.png" Type="http://schemas.openxmlformats.org/officeDocument/2006/relationships/image"/><Relationship Id="rId32" Target="../media/image59.png" Type="http://schemas.openxmlformats.org/officeDocument/2006/relationships/image"/><Relationship Id="rId33" Target="../media/image60.png" Type="http://schemas.openxmlformats.org/officeDocument/2006/relationships/image"/><Relationship Id="rId34" Target="../media/image61.png" Type="http://schemas.openxmlformats.org/officeDocument/2006/relationships/image"/><Relationship Id="rId35" Target="../media/image62.png" Type="http://schemas.openxmlformats.org/officeDocument/2006/relationships/image"/><Relationship Id="rId36" Target="../media/image63.png" Type="http://schemas.openxmlformats.org/officeDocument/2006/relationships/image"/><Relationship Id="rId37" Target="../media/image64.png" Type="http://schemas.openxmlformats.org/officeDocument/2006/relationships/image"/><Relationship Id="rId38" Target="../media/image65.png" Type="http://schemas.openxmlformats.org/officeDocument/2006/relationships/image"/><Relationship Id="rId39" Target="../media/image66.png" Type="http://schemas.openxmlformats.org/officeDocument/2006/relationships/image"/><Relationship Id="rId4" Target="../media/image32.png" Type="http://schemas.openxmlformats.org/officeDocument/2006/relationships/image"/><Relationship Id="rId40" Target="../media/image67.png" Type="http://schemas.openxmlformats.org/officeDocument/2006/relationships/image"/><Relationship Id="rId41" Target="../media/image68.png" Type="http://schemas.openxmlformats.org/officeDocument/2006/relationships/image"/><Relationship Id="rId42" Target="../media/image69.png" Type="http://schemas.openxmlformats.org/officeDocument/2006/relationships/image"/><Relationship Id="rId5" Target="../media/image33.pn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8.png" Type="http://schemas.openxmlformats.org/officeDocument/2006/relationships/image"/><Relationship Id="rId11" Target="../media/image79.png" Type="http://schemas.openxmlformats.org/officeDocument/2006/relationships/image"/><Relationship Id="rId12" Target="../media/image80.png" Type="http://schemas.openxmlformats.org/officeDocument/2006/relationships/image"/><Relationship Id="rId13" Target="../media/image81.png" Type="http://schemas.openxmlformats.org/officeDocument/2006/relationships/image"/><Relationship Id="rId14" Target="../media/image82.png" Type="http://schemas.openxmlformats.org/officeDocument/2006/relationships/image"/><Relationship Id="rId15" Target="../media/image83.png" Type="http://schemas.openxmlformats.org/officeDocument/2006/relationships/image"/><Relationship Id="rId2" Target="../media/image70.png" Type="http://schemas.openxmlformats.org/officeDocument/2006/relationships/image"/><Relationship Id="rId3" Target="../media/image71.png" Type="http://schemas.openxmlformats.org/officeDocument/2006/relationships/image"/><Relationship Id="rId4" Target="../media/image72.png" Type="http://schemas.openxmlformats.org/officeDocument/2006/relationships/image"/><Relationship Id="rId5" Target="../media/image73.png" Type="http://schemas.openxmlformats.org/officeDocument/2006/relationships/image"/><Relationship Id="rId6" Target="../media/image74.png" Type="http://schemas.openxmlformats.org/officeDocument/2006/relationships/image"/><Relationship Id="rId7" Target="../media/image75.png" Type="http://schemas.openxmlformats.org/officeDocument/2006/relationships/image"/><Relationship Id="rId8" Target="../media/image76.png" Type="http://schemas.openxmlformats.org/officeDocument/2006/relationships/image"/><Relationship Id="rId9" Target="../media/image7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4.jpeg" Type="http://schemas.openxmlformats.org/officeDocument/2006/relationships/image"/><Relationship Id="rId3" Target="../media/VAHSekOmE8Y.mp4" Type="http://schemas.openxmlformats.org/officeDocument/2006/relationships/video"/><Relationship Id="rId4" Target="../media/VAHSekOmE8Y.mp4" Type="http://schemas.microsoft.com/office/2007/relationships/media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5.pn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547865" y="9644777"/>
            <a:ext cx="3597135" cy="246831"/>
            <a:chOff x="0" y="0"/>
            <a:chExt cx="4796180" cy="32910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96184" cy="329101"/>
            </a:xfrm>
            <a:custGeom>
              <a:avLst/>
              <a:gdLst/>
              <a:ahLst/>
              <a:cxnLst/>
              <a:rect r="r" b="b" t="t" l="l"/>
              <a:pathLst>
                <a:path h="329101" w="4796184">
                  <a:moveTo>
                    <a:pt x="0" y="0"/>
                  </a:moveTo>
                  <a:lnTo>
                    <a:pt x="4796184" y="0"/>
                  </a:lnTo>
                  <a:lnTo>
                    <a:pt x="4796184" y="329101"/>
                  </a:lnTo>
                  <a:lnTo>
                    <a:pt x="0" y="3291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557" r="0" b="-22137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4796180" cy="348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Copyright © 2025 Accenture. All rights reserved.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528943" y="9644777"/>
            <a:ext cx="187557" cy="246831"/>
            <a:chOff x="0" y="0"/>
            <a:chExt cx="250076" cy="3291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0070" cy="329101"/>
            </a:xfrm>
            <a:custGeom>
              <a:avLst/>
              <a:gdLst/>
              <a:ahLst/>
              <a:cxnLst/>
              <a:rect r="r" b="b" t="t" l="l"/>
              <a:pathLst>
                <a:path h="329101" w="250070">
                  <a:moveTo>
                    <a:pt x="0" y="0"/>
                  </a:moveTo>
                  <a:lnTo>
                    <a:pt x="250070" y="0"/>
                  </a:lnTo>
                  <a:lnTo>
                    <a:pt x="250070" y="329101"/>
                  </a:lnTo>
                  <a:lnTo>
                    <a:pt x="0" y="3291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6331" t="0" r="-76333" b="2518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50076" cy="348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9761" y="9586236"/>
            <a:ext cx="274806" cy="301752"/>
            <a:chOff x="0" y="0"/>
            <a:chExt cx="366408" cy="4023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66395" cy="402336"/>
            </a:xfrm>
            <a:custGeom>
              <a:avLst/>
              <a:gdLst/>
              <a:ahLst/>
              <a:cxnLst/>
              <a:rect r="r" b="b" t="t" l="l"/>
              <a:pathLst>
                <a:path h="402336" w="366395">
                  <a:moveTo>
                    <a:pt x="0" y="402336"/>
                  </a:moveTo>
                  <a:lnTo>
                    <a:pt x="366395" y="253619"/>
                  </a:lnTo>
                  <a:lnTo>
                    <a:pt x="366395" y="148717"/>
                  </a:lnTo>
                  <a:lnTo>
                    <a:pt x="0" y="0"/>
                  </a:lnTo>
                  <a:lnTo>
                    <a:pt x="0" y="105029"/>
                  </a:lnTo>
                  <a:lnTo>
                    <a:pt x="236855" y="201168"/>
                  </a:lnTo>
                  <a:lnTo>
                    <a:pt x="0" y="297307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A100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757924" y="836381"/>
            <a:ext cx="1865728" cy="492766"/>
            <a:chOff x="0" y="0"/>
            <a:chExt cx="2487638" cy="657022"/>
          </a:xfrm>
        </p:grpSpPr>
        <p:sp>
          <p:nvSpPr>
            <p:cNvPr name="Freeform 12" id="12" descr="accenture logo"/>
            <p:cNvSpPr/>
            <p:nvPr/>
          </p:nvSpPr>
          <p:spPr>
            <a:xfrm flipH="false" flipV="false" rot="0">
              <a:off x="0" y="0"/>
              <a:ext cx="2487676" cy="656971"/>
            </a:xfrm>
            <a:custGeom>
              <a:avLst/>
              <a:gdLst/>
              <a:ahLst/>
              <a:cxnLst/>
              <a:rect r="r" b="b" t="t" l="l"/>
              <a:pathLst>
                <a:path h="656971" w="2487676">
                  <a:moveTo>
                    <a:pt x="0" y="0"/>
                  </a:moveTo>
                  <a:lnTo>
                    <a:pt x="2487676" y="0"/>
                  </a:lnTo>
                  <a:lnTo>
                    <a:pt x="2487676" y="656971"/>
                  </a:lnTo>
                  <a:lnTo>
                    <a:pt x="0" y="656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12" r="1" b="-11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9" y="1924"/>
            <a:ext cx="18287971" cy="10285076"/>
            <a:chOff x="0" y="0"/>
            <a:chExt cx="24383962" cy="137134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384000" cy="13713461"/>
            </a:xfrm>
            <a:custGeom>
              <a:avLst/>
              <a:gdLst/>
              <a:ahLst/>
              <a:cxnLst/>
              <a:rect r="r" b="b" t="t" l="l"/>
              <a:pathLst>
                <a:path h="137134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3461"/>
                  </a:lnTo>
                  <a:lnTo>
                    <a:pt x="0" y="13713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210" b="-3129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061645" y="8295751"/>
            <a:ext cx="8164711" cy="777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0"/>
              </a:lnSpc>
            </a:pPr>
            <a:r>
              <a:rPr lang="en-US" b="true" sz="6000" spc="-22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AI reinvention made real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788114" y="8985714"/>
            <a:ext cx="6711772" cy="528971"/>
            <a:chOff x="0" y="0"/>
            <a:chExt cx="8949030" cy="7052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949055" cy="705231"/>
            </a:xfrm>
            <a:custGeom>
              <a:avLst/>
              <a:gdLst/>
              <a:ahLst/>
              <a:cxnLst/>
              <a:rect r="r" b="b" t="t" l="l"/>
              <a:pathLst>
                <a:path h="705231" w="8949055">
                  <a:moveTo>
                    <a:pt x="0" y="0"/>
                  </a:moveTo>
                  <a:lnTo>
                    <a:pt x="8949055" y="0"/>
                  </a:lnTo>
                  <a:lnTo>
                    <a:pt x="8949055" y="705231"/>
                  </a:lnTo>
                  <a:lnTo>
                    <a:pt x="0" y="705231"/>
                  </a:lnTo>
                  <a:close/>
                </a:path>
              </a:pathLst>
            </a:custGeom>
            <a:solidFill>
              <a:srgbClr val="A100FF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879554" y="8985494"/>
            <a:ext cx="652889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Accenture Innovation Challenge 2026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15336" y="1000592"/>
            <a:ext cx="1876844" cy="495700"/>
            <a:chOff x="0" y="0"/>
            <a:chExt cx="2502459" cy="66093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02408" cy="660908"/>
            </a:xfrm>
            <a:custGeom>
              <a:avLst/>
              <a:gdLst/>
              <a:ahLst/>
              <a:cxnLst/>
              <a:rect r="r" b="b" t="t" l="l"/>
              <a:pathLst>
                <a:path h="660908" w="2502408">
                  <a:moveTo>
                    <a:pt x="0" y="0"/>
                  </a:moveTo>
                  <a:lnTo>
                    <a:pt x="2502408" y="0"/>
                  </a:lnTo>
                  <a:lnTo>
                    <a:pt x="2502408" y="660908"/>
                  </a:lnTo>
                  <a:lnTo>
                    <a:pt x="0" y="6609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-3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5709" y="3228604"/>
            <a:ext cx="2165490" cy="2206981"/>
            <a:chOff x="0" y="0"/>
            <a:chExt cx="2887320" cy="294264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87345" cy="2942590"/>
            </a:xfrm>
            <a:custGeom>
              <a:avLst/>
              <a:gdLst/>
              <a:ahLst/>
              <a:cxnLst/>
              <a:rect r="r" b="b" t="t" l="l"/>
              <a:pathLst>
                <a:path h="2942590" w="2887345">
                  <a:moveTo>
                    <a:pt x="0" y="0"/>
                  </a:moveTo>
                  <a:lnTo>
                    <a:pt x="2887345" y="0"/>
                  </a:lnTo>
                  <a:lnTo>
                    <a:pt x="2887345" y="2942590"/>
                  </a:lnTo>
                  <a:lnTo>
                    <a:pt x="0" y="2942590"/>
                  </a:lnTo>
                  <a:close/>
                </a:path>
              </a:pathLst>
            </a:custGeom>
            <a:solidFill>
              <a:srgbClr val="A100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040" y="3305270"/>
            <a:ext cx="2165490" cy="2206981"/>
            <a:chOff x="0" y="0"/>
            <a:chExt cx="2887320" cy="294264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87345" cy="2942590"/>
            </a:xfrm>
            <a:custGeom>
              <a:avLst/>
              <a:gdLst/>
              <a:ahLst/>
              <a:cxnLst/>
              <a:rect r="r" b="b" t="t" l="l"/>
              <a:pathLst>
                <a:path h="2942590" w="2887345">
                  <a:moveTo>
                    <a:pt x="0" y="0"/>
                  </a:moveTo>
                  <a:lnTo>
                    <a:pt x="2887345" y="0"/>
                  </a:lnTo>
                  <a:lnTo>
                    <a:pt x="2887345" y="2942590"/>
                  </a:lnTo>
                  <a:lnTo>
                    <a:pt x="0" y="2942590"/>
                  </a:lnTo>
                  <a:close/>
                </a:path>
              </a:pathLst>
            </a:custGeom>
            <a:solidFill>
              <a:srgbClr val="A100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64955" y="3154061"/>
            <a:ext cx="2151326" cy="2206981"/>
            <a:chOff x="0" y="0"/>
            <a:chExt cx="2868435" cy="29426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68422" cy="2942590"/>
            </a:xfrm>
            <a:custGeom>
              <a:avLst/>
              <a:gdLst/>
              <a:ahLst/>
              <a:cxnLst/>
              <a:rect r="r" b="b" t="t" l="l"/>
              <a:pathLst>
                <a:path h="2942590" w="2868422">
                  <a:moveTo>
                    <a:pt x="0" y="0"/>
                  </a:moveTo>
                  <a:lnTo>
                    <a:pt x="2868422" y="0"/>
                  </a:lnTo>
                  <a:lnTo>
                    <a:pt x="2868422" y="2942590"/>
                  </a:lnTo>
                  <a:lnTo>
                    <a:pt x="0" y="294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7178" t="-29704" r="-10718" b="-3652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956428" y="2905557"/>
            <a:ext cx="4765510" cy="1637963"/>
            <a:chOff x="0" y="0"/>
            <a:chExt cx="6354013" cy="21839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4014" cy="2183948"/>
            </a:xfrm>
            <a:custGeom>
              <a:avLst/>
              <a:gdLst/>
              <a:ahLst/>
              <a:cxnLst/>
              <a:rect r="r" b="b" t="t" l="l"/>
              <a:pathLst>
                <a:path h="2183948" w="6354014">
                  <a:moveTo>
                    <a:pt x="0" y="0"/>
                  </a:moveTo>
                  <a:lnTo>
                    <a:pt x="6354014" y="0"/>
                  </a:lnTo>
                  <a:lnTo>
                    <a:pt x="6354014" y="2183948"/>
                  </a:lnTo>
                  <a:lnTo>
                    <a:pt x="0" y="21839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548" r="0" b="616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6354013" cy="209822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4855"/>
                </a:lnSpc>
              </a:pPr>
              <a:r>
                <a:rPr lang="en-US" b="true" sz="4995">
                  <a:solidFill>
                    <a:srgbClr val="A100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Aditya Onam </a:t>
              </a:r>
              <a:r>
                <a:rPr lang="en-US" b="true" sz="4995">
                  <a:solidFill>
                    <a:srgbClr val="A100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(Team Leader)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79074" y="6695713"/>
            <a:ext cx="2221859" cy="2206984"/>
            <a:chOff x="0" y="0"/>
            <a:chExt cx="2962478" cy="29426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962529" cy="2942595"/>
            </a:xfrm>
            <a:custGeom>
              <a:avLst/>
              <a:gdLst/>
              <a:ahLst/>
              <a:cxnLst/>
              <a:rect r="r" b="b" t="t" l="l"/>
              <a:pathLst>
                <a:path h="2942595" w="2962529">
                  <a:moveTo>
                    <a:pt x="0" y="0"/>
                  </a:moveTo>
                  <a:lnTo>
                    <a:pt x="2962529" y="0"/>
                  </a:lnTo>
                  <a:lnTo>
                    <a:pt x="2962529" y="2942595"/>
                  </a:lnTo>
                  <a:lnTo>
                    <a:pt x="0" y="2942595"/>
                  </a:lnTo>
                  <a:close/>
                </a:path>
              </a:pathLst>
            </a:custGeom>
            <a:solidFill>
              <a:srgbClr val="A100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2962478" cy="29616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Photo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 rot="5395200">
            <a:off x="5746442" y="5669880"/>
            <a:ext cx="6795116" cy="0"/>
          </a:xfrm>
          <a:prstGeom prst="line">
            <a:avLst/>
          </a:prstGeom>
          <a:ln cap="rnd" w="9525">
            <a:solidFill>
              <a:srgbClr val="4600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rot="12660">
            <a:off x="3930072" y="4510688"/>
            <a:ext cx="2586552" cy="0"/>
          </a:xfrm>
          <a:prstGeom prst="line">
            <a:avLst/>
          </a:prstGeom>
          <a:ln cap="rnd" w="9525">
            <a:solidFill>
              <a:srgbClr val="4600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4127116" y="6440759"/>
            <a:ext cx="4594822" cy="1216742"/>
            <a:chOff x="0" y="0"/>
            <a:chExt cx="6126429" cy="162232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126433" cy="1622321"/>
            </a:xfrm>
            <a:custGeom>
              <a:avLst/>
              <a:gdLst/>
              <a:ahLst/>
              <a:cxnLst/>
              <a:rect r="r" b="b" t="t" l="l"/>
              <a:pathLst>
                <a:path h="1622321" w="6126433">
                  <a:moveTo>
                    <a:pt x="0" y="0"/>
                  </a:moveTo>
                  <a:lnTo>
                    <a:pt x="6126433" y="0"/>
                  </a:lnTo>
                  <a:lnTo>
                    <a:pt x="6126433" y="1622321"/>
                  </a:lnTo>
                  <a:lnTo>
                    <a:pt x="0" y="16223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904" t="0" r="41953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6126429" cy="159374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b="true" sz="5400">
                  <a:solidFill>
                    <a:srgbClr val="A100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Varada Patel 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rot="12660">
            <a:off x="4122344" y="7647975"/>
            <a:ext cx="2586552" cy="0"/>
          </a:xfrm>
          <a:prstGeom prst="line">
            <a:avLst/>
          </a:prstGeom>
          <a:ln cap="rnd" w="9525">
            <a:solidFill>
              <a:srgbClr val="4600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0323709" y="3079518"/>
            <a:ext cx="2151326" cy="2206981"/>
            <a:chOff x="0" y="0"/>
            <a:chExt cx="2868435" cy="294264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868422" cy="2942590"/>
            </a:xfrm>
            <a:custGeom>
              <a:avLst/>
              <a:gdLst/>
              <a:ahLst/>
              <a:cxnLst/>
              <a:rect r="r" b="b" t="t" l="l"/>
              <a:pathLst>
                <a:path h="2942590" w="2868422">
                  <a:moveTo>
                    <a:pt x="0" y="0"/>
                  </a:moveTo>
                  <a:lnTo>
                    <a:pt x="2868422" y="0"/>
                  </a:lnTo>
                  <a:lnTo>
                    <a:pt x="2868422" y="2942590"/>
                  </a:lnTo>
                  <a:lnTo>
                    <a:pt x="0" y="294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020" t="0" r="-502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146148" y="3152262"/>
            <a:ext cx="4356108" cy="1216741"/>
            <a:chOff x="0" y="0"/>
            <a:chExt cx="5808144" cy="162232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08144" cy="1622321"/>
            </a:xfrm>
            <a:custGeom>
              <a:avLst/>
              <a:gdLst/>
              <a:ahLst/>
              <a:cxnLst/>
              <a:rect r="r" b="b" t="t" l="l"/>
              <a:pathLst>
                <a:path h="1622321" w="5808144">
                  <a:moveTo>
                    <a:pt x="0" y="0"/>
                  </a:moveTo>
                  <a:lnTo>
                    <a:pt x="5808144" y="0"/>
                  </a:lnTo>
                  <a:lnTo>
                    <a:pt x="5808144" y="1622321"/>
                  </a:lnTo>
                  <a:lnTo>
                    <a:pt x="0" y="16223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1" t="0" r="39416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28575"/>
              <a:ext cx="5808144" cy="159374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b="true" sz="5400">
                  <a:solidFill>
                    <a:srgbClr val="A100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Aditya Gupta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3119810" y="4359478"/>
            <a:ext cx="2586534" cy="9525"/>
          </a:xfrm>
          <a:prstGeom prst="line">
            <a:avLst/>
          </a:prstGeom>
          <a:ln cap="rnd" w="9525">
            <a:solidFill>
              <a:srgbClr val="460073"/>
            </a:solidFill>
            <a:prstDash val="solid"/>
            <a:headEnd type="none" len="sm" w="sm"/>
            <a:tailEnd type="none" len="sm" w="sm"/>
          </a:ln>
        </p:spPr>
      </p:sp>
      <p:graphicFrame>
        <p:nvGraphicFramePr>
          <p:cNvPr name="Table 26" id="26"/>
          <p:cNvGraphicFramePr>
            <a:graphicFrameLocks noGrp="true"/>
          </p:cNvGraphicFramePr>
          <p:nvPr/>
        </p:nvGraphicFramePr>
        <p:xfrm>
          <a:off x="692870" y="1759536"/>
          <a:ext cx="17411700" cy="625475"/>
        </p:xfrm>
        <a:graphic>
          <a:graphicData uri="http://schemas.openxmlformats.org/drawingml/2006/table">
            <a:tbl>
              <a:tblPr/>
              <a:tblGrid>
                <a:gridCol w="6572574"/>
                <a:gridCol w="10839126"/>
              </a:tblGrid>
              <a:tr h="62547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A100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TEAM NAME: 01BIT</a:t>
                      </a: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6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6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91440" marR="91440" marT="91440" marB="91440" anchor="t">
                    <a:lnL cmpd="sng" algn="ctr" cap="flat" w="6350">
                      <a:solidFill>
                        <a:srgbClr val="E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E6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E6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</a:tr>
            </a:tbl>
          </a:graphicData>
        </a:graphic>
      </p:graphicFrame>
      <p:grpSp>
        <p:nvGrpSpPr>
          <p:cNvPr name="Group 27" id="27"/>
          <p:cNvGrpSpPr/>
          <p:nvPr/>
        </p:nvGrpSpPr>
        <p:grpSpPr>
          <a:xfrm rot="0">
            <a:off x="1164955" y="6542303"/>
            <a:ext cx="2151326" cy="2206981"/>
            <a:chOff x="0" y="0"/>
            <a:chExt cx="2868435" cy="294264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868422" cy="2942590"/>
            </a:xfrm>
            <a:custGeom>
              <a:avLst/>
              <a:gdLst/>
              <a:ahLst/>
              <a:cxnLst/>
              <a:rect r="r" b="b" t="t" l="l"/>
              <a:pathLst>
                <a:path h="2942590" w="2868422">
                  <a:moveTo>
                    <a:pt x="0" y="0"/>
                  </a:moveTo>
                  <a:lnTo>
                    <a:pt x="2868422" y="0"/>
                  </a:lnTo>
                  <a:lnTo>
                    <a:pt x="2868422" y="2942590"/>
                  </a:lnTo>
                  <a:lnTo>
                    <a:pt x="0" y="294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5950" r="0" b="-24022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277866" y="6619027"/>
            <a:ext cx="2165490" cy="2206981"/>
            <a:chOff x="0" y="0"/>
            <a:chExt cx="2887320" cy="294264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87345" cy="2942590"/>
            </a:xfrm>
            <a:custGeom>
              <a:avLst/>
              <a:gdLst/>
              <a:ahLst/>
              <a:cxnLst/>
              <a:rect r="r" b="b" t="t" l="l"/>
              <a:pathLst>
                <a:path h="2942590" w="2887345">
                  <a:moveTo>
                    <a:pt x="0" y="0"/>
                  </a:moveTo>
                  <a:lnTo>
                    <a:pt x="2887345" y="0"/>
                  </a:lnTo>
                  <a:lnTo>
                    <a:pt x="2887345" y="2942590"/>
                  </a:lnTo>
                  <a:lnTo>
                    <a:pt x="0" y="2942590"/>
                  </a:lnTo>
                  <a:close/>
                </a:path>
              </a:pathLst>
            </a:custGeom>
            <a:solidFill>
              <a:srgbClr val="A100F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0125866" y="6469942"/>
            <a:ext cx="2155727" cy="2211496"/>
            <a:chOff x="0" y="0"/>
            <a:chExt cx="2868435" cy="294264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868422" cy="2942590"/>
            </a:xfrm>
            <a:custGeom>
              <a:avLst/>
              <a:gdLst/>
              <a:ahLst/>
              <a:cxnLst/>
              <a:rect r="r" b="b" t="t" l="l"/>
              <a:pathLst>
                <a:path h="2942590" w="2868422">
                  <a:moveTo>
                    <a:pt x="0" y="0"/>
                  </a:moveTo>
                  <a:lnTo>
                    <a:pt x="2868422" y="0"/>
                  </a:lnTo>
                  <a:lnTo>
                    <a:pt x="2868422" y="2942590"/>
                  </a:lnTo>
                  <a:lnTo>
                    <a:pt x="0" y="29425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7601" r="0" b="-7601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948304" y="6542685"/>
            <a:ext cx="4356108" cy="1216741"/>
            <a:chOff x="0" y="0"/>
            <a:chExt cx="5808144" cy="162232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808144" cy="1622321"/>
            </a:xfrm>
            <a:custGeom>
              <a:avLst/>
              <a:gdLst/>
              <a:ahLst/>
              <a:cxnLst/>
              <a:rect r="r" b="b" t="t" l="l"/>
              <a:pathLst>
                <a:path h="1622321" w="5808144">
                  <a:moveTo>
                    <a:pt x="0" y="0"/>
                  </a:moveTo>
                  <a:lnTo>
                    <a:pt x="5808144" y="0"/>
                  </a:lnTo>
                  <a:lnTo>
                    <a:pt x="5808144" y="1622321"/>
                  </a:lnTo>
                  <a:lnTo>
                    <a:pt x="0" y="16223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91" t="0" r="39416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28575"/>
              <a:ext cx="5808144" cy="1593747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b="true" sz="5400">
                  <a:solidFill>
                    <a:srgbClr val="A100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MediPilot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>
            <a:off x="12921967" y="7749902"/>
            <a:ext cx="2586534" cy="9525"/>
          </a:xfrm>
          <a:prstGeom prst="line">
            <a:avLst/>
          </a:prstGeom>
          <a:ln cap="rnd" w="9525">
            <a:solidFill>
              <a:srgbClr val="4600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7" id="37"/>
          <p:cNvSpPr txBox="true"/>
          <p:nvPr/>
        </p:nvSpPr>
        <p:spPr>
          <a:xfrm rot="0">
            <a:off x="692868" y="928554"/>
            <a:ext cx="17145000" cy="726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4"/>
              </a:lnSpc>
            </a:pPr>
            <a:r>
              <a:rPr lang="en-US" sz="540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details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350740" y="9805187"/>
            <a:ext cx="395688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000000">
                    <a:alpha val="4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026284" y="4738821"/>
            <a:ext cx="469565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College: Indian Institute of Technology Patna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Stream: Mathematics and Computing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Year of graduation: 2027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026284" y="7871813"/>
            <a:ext cx="469565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College: Indian Institute of Technology Patna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Stream: Mathematics and Computing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Year of graduation: 2027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050774" y="4541891"/>
            <a:ext cx="4695654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College: Indian Institute of Technology Patna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Stream: Mathematics and Computing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Year of graduation: 2027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921967" y="7881338"/>
            <a:ext cx="3836925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AI-Powered Patient Triage Assistant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83501" y="2071186"/>
            <a:ext cx="535476" cy="464079"/>
          </a:xfrm>
          <a:custGeom>
            <a:avLst/>
            <a:gdLst/>
            <a:ahLst/>
            <a:cxnLst/>
            <a:rect r="r" b="b" t="t" l="l"/>
            <a:pathLst>
              <a:path h="464079" w="535476">
                <a:moveTo>
                  <a:pt x="0" y="0"/>
                </a:moveTo>
                <a:lnTo>
                  <a:pt x="535476" y="0"/>
                </a:lnTo>
                <a:lnTo>
                  <a:pt x="535476" y="464079"/>
                </a:lnTo>
                <a:lnTo>
                  <a:pt x="0" y="4640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126" y="1609533"/>
            <a:ext cx="17730318" cy="261628"/>
          </a:xfrm>
          <a:custGeom>
            <a:avLst/>
            <a:gdLst/>
            <a:ahLst/>
            <a:cxnLst/>
            <a:rect r="r" b="b" t="t" l="l"/>
            <a:pathLst>
              <a:path h="261628" w="17730318">
                <a:moveTo>
                  <a:pt x="0" y="0"/>
                </a:moveTo>
                <a:lnTo>
                  <a:pt x="17730318" y="0"/>
                </a:lnTo>
                <a:lnTo>
                  <a:pt x="17730318" y="261628"/>
                </a:lnTo>
                <a:lnTo>
                  <a:pt x="0" y="2616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30781" y="5776327"/>
            <a:ext cx="553325" cy="696119"/>
          </a:xfrm>
          <a:custGeom>
            <a:avLst/>
            <a:gdLst/>
            <a:ahLst/>
            <a:cxnLst/>
            <a:rect r="r" b="b" t="t" l="l"/>
            <a:pathLst>
              <a:path h="696119" w="553325">
                <a:moveTo>
                  <a:pt x="0" y="0"/>
                </a:moveTo>
                <a:lnTo>
                  <a:pt x="553325" y="0"/>
                </a:lnTo>
                <a:lnTo>
                  <a:pt x="553325" y="696119"/>
                </a:lnTo>
                <a:lnTo>
                  <a:pt x="0" y="6961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01864" y="2118779"/>
            <a:ext cx="3679903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9B00FF"/>
                </a:solidFill>
                <a:latin typeface="Arial Bold"/>
                <a:ea typeface="Arial Bold"/>
                <a:cs typeface="Arial Bold"/>
                <a:sym typeface="Arial Bold"/>
              </a:rPr>
              <a:t>FAILURE MODES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4126" y="2517416"/>
            <a:ext cx="7996441" cy="1160198"/>
          </a:xfrm>
          <a:custGeom>
            <a:avLst/>
            <a:gdLst/>
            <a:ahLst/>
            <a:cxnLst/>
            <a:rect r="r" b="b" t="t" l="l"/>
            <a:pathLst>
              <a:path h="1160198" w="7996441">
                <a:moveTo>
                  <a:pt x="0" y="0"/>
                </a:moveTo>
                <a:lnTo>
                  <a:pt x="7996441" y="0"/>
                </a:lnTo>
                <a:lnTo>
                  <a:pt x="7996441" y="1160198"/>
                </a:lnTo>
                <a:lnTo>
                  <a:pt x="0" y="11601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1864" y="2517416"/>
            <a:ext cx="285587" cy="1160198"/>
          </a:xfrm>
          <a:custGeom>
            <a:avLst/>
            <a:gdLst/>
            <a:ahLst/>
            <a:cxnLst/>
            <a:rect r="r" b="b" t="t" l="l"/>
            <a:pathLst>
              <a:path h="1160198" w="285587">
                <a:moveTo>
                  <a:pt x="0" y="0"/>
                </a:moveTo>
                <a:lnTo>
                  <a:pt x="285587" y="0"/>
                </a:lnTo>
                <a:lnTo>
                  <a:pt x="285587" y="1160198"/>
                </a:lnTo>
                <a:lnTo>
                  <a:pt x="0" y="11601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4126" y="3659765"/>
            <a:ext cx="7996441" cy="1142349"/>
          </a:xfrm>
          <a:custGeom>
            <a:avLst/>
            <a:gdLst/>
            <a:ahLst/>
            <a:cxnLst/>
            <a:rect r="r" b="b" t="t" l="l"/>
            <a:pathLst>
              <a:path h="1142349" w="7996441">
                <a:moveTo>
                  <a:pt x="0" y="0"/>
                </a:moveTo>
                <a:lnTo>
                  <a:pt x="7996441" y="0"/>
                </a:lnTo>
                <a:lnTo>
                  <a:pt x="7996441" y="1142348"/>
                </a:lnTo>
                <a:lnTo>
                  <a:pt x="0" y="11423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01864" y="3659765"/>
            <a:ext cx="285587" cy="1142349"/>
          </a:xfrm>
          <a:custGeom>
            <a:avLst/>
            <a:gdLst/>
            <a:ahLst/>
            <a:cxnLst/>
            <a:rect r="r" b="b" t="t" l="l"/>
            <a:pathLst>
              <a:path h="1142349" w="285587">
                <a:moveTo>
                  <a:pt x="0" y="0"/>
                </a:moveTo>
                <a:lnTo>
                  <a:pt x="285587" y="0"/>
                </a:lnTo>
                <a:lnTo>
                  <a:pt x="285587" y="1142348"/>
                </a:lnTo>
                <a:lnTo>
                  <a:pt x="0" y="11423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4126" y="4802113"/>
            <a:ext cx="7996441" cy="1142349"/>
          </a:xfrm>
          <a:custGeom>
            <a:avLst/>
            <a:gdLst/>
            <a:ahLst/>
            <a:cxnLst/>
            <a:rect r="r" b="b" t="t" l="l"/>
            <a:pathLst>
              <a:path h="1142349" w="7996441">
                <a:moveTo>
                  <a:pt x="0" y="0"/>
                </a:moveTo>
                <a:lnTo>
                  <a:pt x="7996441" y="0"/>
                </a:lnTo>
                <a:lnTo>
                  <a:pt x="7996441" y="1142349"/>
                </a:lnTo>
                <a:lnTo>
                  <a:pt x="0" y="114234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01864" y="4802113"/>
            <a:ext cx="285587" cy="1142349"/>
          </a:xfrm>
          <a:custGeom>
            <a:avLst/>
            <a:gdLst/>
            <a:ahLst/>
            <a:cxnLst/>
            <a:rect r="r" b="b" t="t" l="l"/>
            <a:pathLst>
              <a:path h="1142349" w="285587">
                <a:moveTo>
                  <a:pt x="0" y="0"/>
                </a:moveTo>
                <a:lnTo>
                  <a:pt x="285587" y="0"/>
                </a:lnTo>
                <a:lnTo>
                  <a:pt x="285587" y="1142349"/>
                </a:lnTo>
                <a:lnTo>
                  <a:pt x="0" y="11423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862829" y="2517416"/>
            <a:ext cx="535476" cy="696119"/>
          </a:xfrm>
          <a:custGeom>
            <a:avLst/>
            <a:gdLst/>
            <a:ahLst/>
            <a:cxnLst/>
            <a:rect r="r" b="b" t="t" l="l"/>
            <a:pathLst>
              <a:path h="696119" w="535476">
                <a:moveTo>
                  <a:pt x="0" y="0"/>
                </a:moveTo>
                <a:lnTo>
                  <a:pt x="535476" y="0"/>
                </a:lnTo>
                <a:lnTo>
                  <a:pt x="535476" y="696119"/>
                </a:lnTo>
                <a:lnTo>
                  <a:pt x="0" y="6961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01864" y="6246638"/>
            <a:ext cx="3540306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9B00FF"/>
                </a:solidFill>
                <a:latin typeface="Arial Bold"/>
                <a:ea typeface="Arial Bold"/>
                <a:cs typeface="Arial Bold"/>
                <a:sym typeface="Arial Bold"/>
              </a:rPr>
              <a:t>THE EVIDENCE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328869" y="6831231"/>
            <a:ext cx="3832159" cy="3326738"/>
          </a:xfrm>
          <a:custGeom>
            <a:avLst/>
            <a:gdLst/>
            <a:ahLst/>
            <a:cxnLst/>
            <a:rect r="r" b="b" t="t" l="l"/>
            <a:pathLst>
              <a:path h="3326738" w="3832159">
                <a:moveTo>
                  <a:pt x="0" y="0"/>
                </a:moveTo>
                <a:lnTo>
                  <a:pt x="3832159" y="0"/>
                </a:lnTo>
                <a:lnTo>
                  <a:pt x="3832159" y="3326738"/>
                </a:lnTo>
                <a:lnTo>
                  <a:pt x="0" y="332673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1967" r="0" b="-3454"/>
            </a:stretch>
          </a:blipFill>
          <a:ln w="38100" cap="sq">
            <a:solidFill>
              <a:srgbClr val="000000"/>
            </a:solidFill>
            <a:prstDash val="sysDot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9622645" y="9652278"/>
            <a:ext cx="339474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sz="12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Ph</a:t>
            </a:r>
            <a:r>
              <a:rPr lang="en-US" sz="12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ysician shortages strain every triage decision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827778" y="6831231"/>
            <a:ext cx="3849267" cy="3326738"/>
          </a:xfrm>
          <a:custGeom>
            <a:avLst/>
            <a:gdLst/>
            <a:ahLst/>
            <a:cxnLst/>
            <a:rect r="r" b="b" t="t" l="l"/>
            <a:pathLst>
              <a:path h="3326738" w="3849267">
                <a:moveTo>
                  <a:pt x="0" y="0"/>
                </a:moveTo>
                <a:lnTo>
                  <a:pt x="3849267" y="0"/>
                </a:lnTo>
                <a:lnTo>
                  <a:pt x="3849267" y="3326738"/>
                </a:lnTo>
                <a:lnTo>
                  <a:pt x="0" y="332673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1967" r="0" b="-3454"/>
            </a:stretch>
          </a:blipFill>
          <a:ln w="38100" cap="sq">
            <a:solidFill>
              <a:srgbClr val="000000"/>
            </a:solidFill>
            <a:prstDash val="sysDot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13962382" y="9652278"/>
            <a:ext cx="339474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sz="12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Missed 2 in 3 cases; 109 false alerts per real one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321525" y="6780038"/>
            <a:ext cx="3832159" cy="3377931"/>
          </a:xfrm>
          <a:custGeom>
            <a:avLst/>
            <a:gdLst/>
            <a:ahLst/>
            <a:cxnLst/>
            <a:rect r="r" b="b" t="t" l="l"/>
            <a:pathLst>
              <a:path h="3377931" w="3832159">
                <a:moveTo>
                  <a:pt x="0" y="0"/>
                </a:moveTo>
                <a:lnTo>
                  <a:pt x="3832160" y="0"/>
                </a:lnTo>
                <a:lnTo>
                  <a:pt x="3832160" y="3377931"/>
                </a:lnTo>
                <a:lnTo>
                  <a:pt x="0" y="337793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1937" r="0" b="-1886"/>
            </a:stretch>
          </a:blipFill>
          <a:ln w="38100" cap="sq">
            <a:solidFill>
              <a:srgbClr val="000000"/>
            </a:solidFill>
            <a:prstDash val="sysDot"/>
            <a:miter/>
          </a:ln>
        </p:spPr>
      </p:sp>
      <p:sp>
        <p:nvSpPr>
          <p:cNvPr name="Freeform 19" id="19"/>
          <p:cNvSpPr/>
          <p:nvPr/>
        </p:nvSpPr>
        <p:spPr>
          <a:xfrm flipH="false" flipV="false" rot="0">
            <a:off x="1074271" y="6780038"/>
            <a:ext cx="2566178" cy="2536272"/>
          </a:xfrm>
          <a:custGeom>
            <a:avLst/>
            <a:gdLst/>
            <a:ahLst/>
            <a:cxnLst/>
            <a:rect r="r" b="b" t="t" l="l"/>
            <a:pathLst>
              <a:path h="2536272" w="2566178">
                <a:moveTo>
                  <a:pt x="0" y="0"/>
                </a:moveTo>
                <a:lnTo>
                  <a:pt x="2566178" y="0"/>
                </a:lnTo>
                <a:lnTo>
                  <a:pt x="2566178" y="2536272"/>
                </a:lnTo>
                <a:lnTo>
                  <a:pt x="0" y="253627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1938" r="0" b="-1938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774085" y="7821983"/>
            <a:ext cx="1158783" cy="506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9"/>
              </a:lnSpc>
            </a:pPr>
            <a:r>
              <a:rPr lang="en-US" b="true" sz="2927">
                <a:solidFill>
                  <a:srgbClr val="A100FF"/>
                </a:solidFill>
                <a:latin typeface="Arial Bold"/>
                <a:ea typeface="Arial Bold"/>
                <a:cs typeface="Arial Bold"/>
                <a:sym typeface="Arial Bold"/>
              </a:rPr>
              <a:t>32.2%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081614" y="6831231"/>
            <a:ext cx="2566178" cy="2536272"/>
          </a:xfrm>
          <a:custGeom>
            <a:avLst/>
            <a:gdLst/>
            <a:ahLst/>
            <a:cxnLst/>
            <a:rect r="r" b="b" t="t" l="l"/>
            <a:pathLst>
              <a:path h="2536272" w="2566178">
                <a:moveTo>
                  <a:pt x="0" y="0"/>
                </a:moveTo>
                <a:lnTo>
                  <a:pt x="2566178" y="0"/>
                </a:lnTo>
                <a:lnTo>
                  <a:pt x="2566178" y="2536272"/>
                </a:lnTo>
                <a:lnTo>
                  <a:pt x="0" y="253627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-1938" r="0" b="-1938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0601898" y="7868596"/>
            <a:ext cx="1459003" cy="408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b="true" sz="2300">
                <a:solidFill>
                  <a:srgbClr val="A100FF"/>
                </a:solidFill>
                <a:latin typeface="Arial Bold"/>
                <a:ea typeface="Arial Bold"/>
                <a:cs typeface="Arial Bold"/>
                <a:sym typeface="Arial Bold"/>
              </a:rPr>
              <a:t>SHORT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61193" y="9279533"/>
            <a:ext cx="2771301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Physician Shortage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4816643" y="6780038"/>
            <a:ext cx="3849267" cy="3377931"/>
          </a:xfrm>
          <a:custGeom>
            <a:avLst/>
            <a:gdLst/>
            <a:ahLst/>
            <a:cxnLst/>
            <a:rect r="r" b="b" t="t" l="l"/>
            <a:pathLst>
              <a:path h="3377931" w="3849267">
                <a:moveTo>
                  <a:pt x="0" y="0"/>
                </a:moveTo>
                <a:lnTo>
                  <a:pt x="3849267" y="0"/>
                </a:lnTo>
                <a:lnTo>
                  <a:pt x="3849267" y="3377931"/>
                </a:lnTo>
                <a:lnTo>
                  <a:pt x="0" y="3377931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-1937" r="0" b="-1886"/>
            </a:stretch>
          </a:blipFill>
          <a:ln w="38100" cap="sq">
            <a:solidFill>
              <a:srgbClr val="000000"/>
            </a:solidFill>
            <a:prstDash val="sysDot"/>
            <a:miter/>
          </a:ln>
        </p:spPr>
      </p:sp>
      <p:sp>
        <p:nvSpPr>
          <p:cNvPr name="Freeform 25" id="25"/>
          <p:cNvSpPr/>
          <p:nvPr/>
        </p:nvSpPr>
        <p:spPr>
          <a:xfrm flipH="false" flipV="false" rot="0">
            <a:off x="5329879" y="6780038"/>
            <a:ext cx="2566178" cy="2536272"/>
          </a:xfrm>
          <a:custGeom>
            <a:avLst/>
            <a:gdLst/>
            <a:ahLst/>
            <a:cxnLst/>
            <a:rect r="r" b="b" t="t" l="l"/>
            <a:pathLst>
              <a:path h="2536272" w="2566178">
                <a:moveTo>
                  <a:pt x="0" y="0"/>
                </a:moveTo>
                <a:lnTo>
                  <a:pt x="2566178" y="0"/>
                </a:lnTo>
                <a:lnTo>
                  <a:pt x="2566178" y="2536272"/>
                </a:lnTo>
                <a:lnTo>
                  <a:pt x="0" y="253627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-1938" r="0" b="-1938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848897" y="7876620"/>
            <a:ext cx="1583126" cy="406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6"/>
              </a:lnSpc>
            </a:pPr>
            <a:r>
              <a:rPr lang="en-US" b="true" sz="2354">
                <a:solidFill>
                  <a:srgbClr val="A100FF"/>
                </a:solidFill>
                <a:latin typeface="Arial Bold"/>
                <a:ea typeface="Arial Bold"/>
                <a:cs typeface="Arial Bold"/>
                <a:sym typeface="Arial Bold"/>
              </a:rPr>
              <a:t>NO STD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522318" y="9279533"/>
            <a:ext cx="2282551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Most Indian EDs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4341013" y="6831231"/>
            <a:ext cx="2566178" cy="2536272"/>
          </a:xfrm>
          <a:custGeom>
            <a:avLst/>
            <a:gdLst/>
            <a:ahLst/>
            <a:cxnLst/>
            <a:rect r="r" b="b" t="t" l="l"/>
            <a:pathLst>
              <a:path h="2536272" w="2566178">
                <a:moveTo>
                  <a:pt x="0" y="0"/>
                </a:moveTo>
                <a:lnTo>
                  <a:pt x="2566178" y="0"/>
                </a:lnTo>
                <a:lnTo>
                  <a:pt x="2566178" y="2536272"/>
                </a:lnTo>
                <a:lnTo>
                  <a:pt x="0" y="253627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-1938" r="0" b="-1938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5202770" y="7775476"/>
            <a:ext cx="832365" cy="57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4"/>
              </a:lnSpc>
            </a:pPr>
            <a:r>
              <a:rPr lang="en-US" b="true" sz="3217">
                <a:solidFill>
                  <a:srgbClr val="A100FF"/>
                </a:solidFill>
                <a:latin typeface="Arial Bold"/>
                <a:ea typeface="Arial Bold"/>
                <a:cs typeface="Arial Bold"/>
                <a:sym typeface="Arial Bold"/>
              </a:rPr>
              <a:t>0.63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197376" y="9259159"/>
            <a:ext cx="3159752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 b="true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Epic Sepsis Model AUC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7146701" y="8099367"/>
            <a:ext cx="530343" cy="642303"/>
          </a:xfrm>
          <a:custGeom>
            <a:avLst/>
            <a:gdLst/>
            <a:ahLst/>
            <a:cxnLst/>
            <a:rect r="r" b="b" t="t" l="l"/>
            <a:pathLst>
              <a:path h="642303" w="530343">
                <a:moveTo>
                  <a:pt x="0" y="0"/>
                </a:moveTo>
                <a:lnTo>
                  <a:pt x="530344" y="0"/>
                </a:lnTo>
                <a:lnTo>
                  <a:pt x="530344" y="642302"/>
                </a:lnTo>
                <a:lnTo>
                  <a:pt x="0" y="642302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-1938" r="0" b="-1938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284035" y="9259160"/>
            <a:ext cx="1915561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200" b="true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ESI Mistrage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82660" y="9681719"/>
            <a:ext cx="339474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0"/>
              </a:lnSpc>
            </a:pPr>
            <a:r>
              <a:rPr lang="en-US" sz="13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of ED visits get the wrong acuity level at first triage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951248" y="9681719"/>
            <a:ext cx="339474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sz="1299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have no standard triage protocol — it depends who's on duty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3806433" y="2809376"/>
            <a:ext cx="1563719" cy="2843126"/>
          </a:xfrm>
          <a:custGeom>
            <a:avLst/>
            <a:gdLst/>
            <a:ahLst/>
            <a:cxnLst/>
            <a:rect r="r" b="b" t="t" l="l"/>
            <a:pathLst>
              <a:path h="2843126" w="1563719">
                <a:moveTo>
                  <a:pt x="0" y="0"/>
                </a:moveTo>
                <a:lnTo>
                  <a:pt x="1563719" y="0"/>
                </a:lnTo>
                <a:lnTo>
                  <a:pt x="1563719" y="2843126"/>
                </a:lnTo>
                <a:lnTo>
                  <a:pt x="0" y="284312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433732" y="878238"/>
            <a:ext cx="17131106" cy="5407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5"/>
              </a:lnSpc>
            </a:pPr>
            <a:r>
              <a:rPr lang="en-US" sz="3648" spc="72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One person decides </a:t>
            </a:r>
            <a:r>
              <a:rPr lang="en-US" sz="3648" spc="72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— </a:t>
            </a:r>
            <a:r>
              <a:rPr lang="en-US" sz="3648" spc="72">
                <a:solidFill>
                  <a:srgbClr val="9B00FF"/>
                </a:solidFill>
                <a:latin typeface="Arial"/>
                <a:ea typeface="Arial"/>
                <a:cs typeface="Arial"/>
                <a:sym typeface="Arial"/>
              </a:rPr>
              <a:t>once, in ninety seconds</a:t>
            </a:r>
            <a:r>
              <a:rPr lang="en-US" sz="3648" spc="72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, and then nobody looks again.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89272" y="2823629"/>
            <a:ext cx="4940481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01 — One Person’s Judgment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89272" y="3156385"/>
            <a:ext cx="5900421" cy="33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4"/>
              </a:lnSpc>
            </a:pPr>
            <a:r>
              <a:rPr lang="en-US" sz="1824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One person, under pressure, with no second opinion.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89272" y="3909516"/>
            <a:ext cx="482316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02 — One-Shot Assessment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89272" y="4972757"/>
            <a:ext cx="482316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03 — Clinical AI Has Failed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15737" y="4251972"/>
            <a:ext cx="6972915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Triage happens once. The corridor goes unwatched for hours after.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89272" y="5330897"/>
            <a:ext cx="5804898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Clinical AI already failed here once. Nobody trusts it now.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517230" y="2221981"/>
            <a:ext cx="849602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9B00FF"/>
                </a:solidFill>
                <a:latin typeface="Arial Bold"/>
                <a:ea typeface="Arial Bold"/>
                <a:cs typeface="Arial Bold"/>
                <a:sym typeface="Arial Bold"/>
              </a:rPr>
              <a:t>WHERE MISTRIAGE ACTUALLY HAPPENS ?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000822" y="3520200"/>
            <a:ext cx="1208998" cy="40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4"/>
              </a:lnSpc>
            </a:pPr>
            <a:r>
              <a:rPr lang="en-US" sz="1456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Deterioration goes unseen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10951903" y="3957997"/>
            <a:ext cx="1364017" cy="1694505"/>
          </a:xfrm>
          <a:custGeom>
            <a:avLst/>
            <a:gdLst/>
            <a:ahLst/>
            <a:cxnLst/>
            <a:rect r="r" b="b" t="t" l="l"/>
            <a:pathLst>
              <a:path h="1694505" w="1364017">
                <a:moveTo>
                  <a:pt x="0" y="0"/>
                </a:moveTo>
                <a:lnTo>
                  <a:pt x="1364017" y="0"/>
                </a:lnTo>
                <a:lnTo>
                  <a:pt x="1364017" y="1694505"/>
                </a:lnTo>
                <a:lnTo>
                  <a:pt x="0" y="1694505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1404" t="0" r="-1404" b="-50469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2332190" y="3502952"/>
            <a:ext cx="1464169" cy="2149550"/>
          </a:xfrm>
          <a:custGeom>
            <a:avLst/>
            <a:gdLst/>
            <a:ahLst/>
            <a:cxnLst/>
            <a:rect r="r" b="b" t="t" l="l"/>
            <a:pathLst>
              <a:path h="2149550" w="1464169">
                <a:moveTo>
                  <a:pt x="0" y="0"/>
                </a:moveTo>
                <a:lnTo>
                  <a:pt x="1464169" y="0"/>
                </a:lnTo>
                <a:lnTo>
                  <a:pt x="1464169" y="2149550"/>
                </a:lnTo>
                <a:lnTo>
                  <a:pt x="0" y="214955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-1404" t="0" r="-1404" b="-27325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2442748" y="4078906"/>
            <a:ext cx="1243054" cy="379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4"/>
              </a:lnSpc>
            </a:pPr>
            <a:r>
              <a:rPr lang="en-US" sz="1256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Up to </a:t>
            </a:r>
            <a:r>
              <a:rPr lang="en-US" sz="1256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4-Hours:  No recheck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145713" y="4467299"/>
            <a:ext cx="945029" cy="36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08"/>
              </a:lnSpc>
            </a:pPr>
            <a:r>
              <a:rPr lang="en-US" sz="1224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 = 0: </a:t>
            </a:r>
          </a:p>
          <a:p>
            <a:pPr algn="ctr">
              <a:lnSpc>
                <a:spcPts val="1408"/>
              </a:lnSpc>
            </a:pPr>
            <a:r>
              <a:rPr lang="en-US" sz="1224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Patient Seen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361982" y="5719530"/>
            <a:ext cx="7407593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Everyone's attention is at </a:t>
            </a:r>
            <a:r>
              <a:rPr lang="en-US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 = </a:t>
            </a:r>
            <a:r>
              <a:rPr lang="en-US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0.</a:t>
            </a:r>
            <a:r>
              <a:rPr lang="en-US" sz="1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The next four hours get silence — and that's where mistriage becomes irreversible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36665" y="0"/>
            <a:ext cx="4065530" cy="789339"/>
            <a:chOff x="0" y="0"/>
            <a:chExt cx="1070757" cy="2078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70757" cy="207892"/>
            </a:xfrm>
            <a:custGeom>
              <a:avLst/>
              <a:gdLst/>
              <a:ahLst/>
              <a:cxnLst/>
              <a:rect r="r" b="b" t="t" l="l"/>
              <a:pathLst>
                <a:path h="207892" w="1070757">
                  <a:moveTo>
                    <a:pt x="96404" y="0"/>
                  </a:moveTo>
                  <a:lnTo>
                    <a:pt x="974352" y="0"/>
                  </a:lnTo>
                  <a:cubicBezTo>
                    <a:pt x="999920" y="0"/>
                    <a:pt x="1024441" y="10157"/>
                    <a:pt x="1042521" y="28236"/>
                  </a:cubicBezTo>
                  <a:cubicBezTo>
                    <a:pt x="1060600" y="46315"/>
                    <a:pt x="1070757" y="70836"/>
                    <a:pt x="1070757" y="96404"/>
                  </a:cubicBezTo>
                  <a:lnTo>
                    <a:pt x="1070757" y="111487"/>
                  </a:lnTo>
                  <a:cubicBezTo>
                    <a:pt x="1070757" y="137055"/>
                    <a:pt x="1060600" y="161576"/>
                    <a:pt x="1042521" y="179656"/>
                  </a:cubicBezTo>
                  <a:cubicBezTo>
                    <a:pt x="1024441" y="197735"/>
                    <a:pt x="999920" y="207892"/>
                    <a:pt x="974352" y="207892"/>
                  </a:cubicBezTo>
                  <a:lnTo>
                    <a:pt x="96404" y="207892"/>
                  </a:lnTo>
                  <a:cubicBezTo>
                    <a:pt x="70836" y="207892"/>
                    <a:pt x="46315" y="197735"/>
                    <a:pt x="28236" y="179656"/>
                  </a:cubicBezTo>
                  <a:cubicBezTo>
                    <a:pt x="10157" y="161576"/>
                    <a:pt x="0" y="137055"/>
                    <a:pt x="0" y="111487"/>
                  </a:cubicBezTo>
                  <a:lnTo>
                    <a:pt x="0" y="96404"/>
                  </a:lnTo>
                  <a:cubicBezTo>
                    <a:pt x="0" y="70836"/>
                    <a:pt x="10157" y="46315"/>
                    <a:pt x="28236" y="28236"/>
                  </a:cubicBezTo>
                  <a:cubicBezTo>
                    <a:pt x="46315" y="10157"/>
                    <a:pt x="70836" y="0"/>
                    <a:pt x="96404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A100FF"/>
              </a:solidFill>
              <a:prstDash val="solid"/>
              <a:round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0" y="-85725"/>
              <a:ext cx="1070757" cy="293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64"/>
                </a:lnSpc>
              </a:pPr>
              <a:r>
                <a:rPr lang="en-US" b="true" sz="3189">
                  <a:solidFill>
                    <a:srgbClr val="A100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Statement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1127" y="6675462"/>
            <a:ext cx="322363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6"/>
              </a:lnSpc>
            </a:pPr>
            <a:r>
              <a:rPr lang="en-US" b="true" sz="2797" spc="139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TRIAGE LANES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31127" y="7112629"/>
            <a:ext cx="3341515" cy="1282228"/>
          </a:xfrm>
          <a:custGeom>
            <a:avLst/>
            <a:gdLst/>
            <a:ahLst/>
            <a:cxnLst/>
            <a:rect r="r" b="b" t="t" l="l"/>
            <a:pathLst>
              <a:path h="1282228" w="3341515">
                <a:moveTo>
                  <a:pt x="0" y="0"/>
                </a:moveTo>
                <a:lnTo>
                  <a:pt x="3341515" y="0"/>
                </a:lnTo>
                <a:lnTo>
                  <a:pt x="3341515" y="1282228"/>
                </a:lnTo>
                <a:lnTo>
                  <a:pt x="0" y="12822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874" t="0" r="-12746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83336" y="7265029"/>
            <a:ext cx="459930" cy="432055"/>
          </a:xfrm>
          <a:custGeom>
            <a:avLst/>
            <a:gdLst/>
            <a:ahLst/>
            <a:cxnLst/>
            <a:rect r="r" b="b" t="t" l="l"/>
            <a:pathLst>
              <a:path h="432055" w="459930">
                <a:moveTo>
                  <a:pt x="0" y="0"/>
                </a:moveTo>
                <a:lnTo>
                  <a:pt x="459929" y="0"/>
                </a:lnTo>
                <a:lnTo>
                  <a:pt x="459929" y="432055"/>
                </a:lnTo>
                <a:lnTo>
                  <a:pt x="0" y="4320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31127" y="8226700"/>
            <a:ext cx="3341515" cy="1466123"/>
          </a:xfrm>
          <a:custGeom>
            <a:avLst/>
            <a:gdLst/>
            <a:ahLst/>
            <a:cxnLst/>
            <a:rect r="r" b="b" t="t" l="l"/>
            <a:pathLst>
              <a:path h="1466123" w="3341515">
                <a:moveTo>
                  <a:pt x="0" y="0"/>
                </a:moveTo>
                <a:lnTo>
                  <a:pt x="3341515" y="0"/>
                </a:lnTo>
                <a:lnTo>
                  <a:pt x="3341515" y="1466123"/>
                </a:lnTo>
                <a:lnTo>
                  <a:pt x="0" y="1466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464" t="0" r="-134872" b="-2666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83336" y="8533320"/>
            <a:ext cx="459930" cy="445992"/>
          </a:xfrm>
          <a:custGeom>
            <a:avLst/>
            <a:gdLst/>
            <a:ahLst/>
            <a:cxnLst/>
            <a:rect r="r" b="b" t="t" l="l"/>
            <a:pathLst>
              <a:path h="445992" w="459930">
                <a:moveTo>
                  <a:pt x="0" y="0"/>
                </a:moveTo>
                <a:lnTo>
                  <a:pt x="459929" y="0"/>
                </a:lnTo>
                <a:lnTo>
                  <a:pt x="459929" y="445992"/>
                </a:lnTo>
                <a:lnTo>
                  <a:pt x="0" y="4459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86942" y="7051862"/>
            <a:ext cx="3356988" cy="1271144"/>
          </a:xfrm>
          <a:custGeom>
            <a:avLst/>
            <a:gdLst/>
            <a:ahLst/>
            <a:cxnLst/>
            <a:rect r="r" b="b" t="t" l="l"/>
            <a:pathLst>
              <a:path h="1271144" w="3356988">
                <a:moveTo>
                  <a:pt x="0" y="0"/>
                </a:moveTo>
                <a:lnTo>
                  <a:pt x="3356987" y="0"/>
                </a:lnTo>
                <a:lnTo>
                  <a:pt x="3356987" y="1271144"/>
                </a:lnTo>
                <a:lnTo>
                  <a:pt x="0" y="12711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46196" b="-87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07804" y="7255379"/>
            <a:ext cx="459930" cy="432055"/>
          </a:xfrm>
          <a:custGeom>
            <a:avLst/>
            <a:gdLst/>
            <a:ahLst/>
            <a:cxnLst/>
            <a:rect r="r" b="b" t="t" l="l"/>
            <a:pathLst>
              <a:path h="432055" w="459930">
                <a:moveTo>
                  <a:pt x="0" y="0"/>
                </a:moveTo>
                <a:lnTo>
                  <a:pt x="459930" y="0"/>
                </a:lnTo>
                <a:lnTo>
                  <a:pt x="459930" y="432055"/>
                </a:lnTo>
                <a:lnTo>
                  <a:pt x="0" y="4320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786942" y="8232628"/>
            <a:ext cx="3356988" cy="1505224"/>
          </a:xfrm>
          <a:custGeom>
            <a:avLst/>
            <a:gdLst/>
            <a:ahLst/>
            <a:cxnLst/>
            <a:rect r="r" b="b" t="t" l="l"/>
            <a:pathLst>
              <a:path h="1505224" w="3356988">
                <a:moveTo>
                  <a:pt x="0" y="0"/>
                </a:moveTo>
                <a:lnTo>
                  <a:pt x="3356987" y="0"/>
                </a:lnTo>
                <a:lnTo>
                  <a:pt x="3356987" y="1505224"/>
                </a:lnTo>
                <a:lnTo>
                  <a:pt x="0" y="15052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146196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190288" y="8442067"/>
            <a:ext cx="236933" cy="445992"/>
          </a:xfrm>
          <a:custGeom>
            <a:avLst/>
            <a:gdLst/>
            <a:ahLst/>
            <a:cxnLst/>
            <a:rect r="r" b="b" t="t" l="l"/>
            <a:pathLst>
              <a:path h="445992" w="236933">
                <a:moveTo>
                  <a:pt x="0" y="0"/>
                </a:moveTo>
                <a:lnTo>
                  <a:pt x="236933" y="0"/>
                </a:lnTo>
                <a:lnTo>
                  <a:pt x="236933" y="445992"/>
                </a:lnTo>
                <a:lnTo>
                  <a:pt x="0" y="44599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724941" y="548614"/>
            <a:ext cx="1815655" cy="2145774"/>
          </a:xfrm>
          <a:custGeom>
            <a:avLst/>
            <a:gdLst/>
            <a:ahLst/>
            <a:cxnLst/>
            <a:rect r="r" b="b" t="t" l="l"/>
            <a:pathLst>
              <a:path h="2145774" w="1815655">
                <a:moveTo>
                  <a:pt x="0" y="0"/>
                </a:moveTo>
                <a:lnTo>
                  <a:pt x="1815655" y="0"/>
                </a:lnTo>
                <a:lnTo>
                  <a:pt x="1815655" y="2145774"/>
                </a:lnTo>
                <a:lnTo>
                  <a:pt x="0" y="214577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454817" y="8018757"/>
            <a:ext cx="2504401" cy="1252201"/>
          </a:xfrm>
          <a:custGeom>
            <a:avLst/>
            <a:gdLst/>
            <a:ahLst/>
            <a:cxnLst/>
            <a:rect r="r" b="b" t="t" l="l"/>
            <a:pathLst>
              <a:path h="1252201" w="2504401">
                <a:moveTo>
                  <a:pt x="0" y="0"/>
                </a:moveTo>
                <a:lnTo>
                  <a:pt x="2504401" y="0"/>
                </a:lnTo>
                <a:lnTo>
                  <a:pt x="2504401" y="1252201"/>
                </a:lnTo>
                <a:lnTo>
                  <a:pt x="0" y="12522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1133169" y="8059423"/>
            <a:ext cx="1937646" cy="921850"/>
          </a:xfrm>
          <a:custGeom>
            <a:avLst/>
            <a:gdLst/>
            <a:ahLst/>
            <a:cxnLst/>
            <a:rect r="r" b="b" t="t" l="l"/>
            <a:pathLst>
              <a:path h="921850" w="1937646">
                <a:moveTo>
                  <a:pt x="0" y="0"/>
                </a:moveTo>
                <a:lnTo>
                  <a:pt x="1937646" y="0"/>
                </a:lnTo>
                <a:lnTo>
                  <a:pt x="1937646" y="921850"/>
                </a:lnTo>
                <a:lnTo>
                  <a:pt x="0" y="9218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133169" y="6823093"/>
            <a:ext cx="1611209" cy="1211436"/>
          </a:xfrm>
          <a:custGeom>
            <a:avLst/>
            <a:gdLst/>
            <a:ahLst/>
            <a:cxnLst/>
            <a:rect r="r" b="b" t="t" l="l"/>
            <a:pathLst>
              <a:path h="1211436" w="1611209">
                <a:moveTo>
                  <a:pt x="0" y="0"/>
                </a:moveTo>
                <a:lnTo>
                  <a:pt x="1611209" y="0"/>
                </a:lnTo>
                <a:lnTo>
                  <a:pt x="1611209" y="1211435"/>
                </a:lnTo>
                <a:lnTo>
                  <a:pt x="0" y="121143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410574" y="8044179"/>
            <a:ext cx="1894735" cy="2067386"/>
          </a:xfrm>
          <a:custGeom>
            <a:avLst/>
            <a:gdLst/>
            <a:ahLst/>
            <a:cxnLst/>
            <a:rect r="r" b="b" t="t" l="l"/>
            <a:pathLst>
              <a:path h="2067386" w="1894735">
                <a:moveTo>
                  <a:pt x="0" y="0"/>
                </a:moveTo>
                <a:lnTo>
                  <a:pt x="1894735" y="0"/>
                </a:lnTo>
                <a:lnTo>
                  <a:pt x="1894735" y="2067386"/>
                </a:lnTo>
                <a:lnTo>
                  <a:pt x="0" y="206738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994725" y="9351513"/>
            <a:ext cx="2283053" cy="779579"/>
          </a:xfrm>
          <a:custGeom>
            <a:avLst/>
            <a:gdLst/>
            <a:ahLst/>
            <a:cxnLst/>
            <a:rect r="r" b="b" t="t" l="l"/>
            <a:pathLst>
              <a:path h="779579" w="2283053">
                <a:moveTo>
                  <a:pt x="0" y="0"/>
                </a:moveTo>
                <a:lnTo>
                  <a:pt x="2283053" y="0"/>
                </a:lnTo>
                <a:lnTo>
                  <a:pt x="2283053" y="779579"/>
                </a:lnTo>
                <a:lnTo>
                  <a:pt x="0" y="7795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717617" y="9388018"/>
            <a:ext cx="2007324" cy="775557"/>
          </a:xfrm>
          <a:custGeom>
            <a:avLst/>
            <a:gdLst/>
            <a:ahLst/>
            <a:cxnLst/>
            <a:rect r="r" b="b" t="t" l="l"/>
            <a:pathLst>
              <a:path h="775557" w="2007324">
                <a:moveTo>
                  <a:pt x="0" y="0"/>
                </a:moveTo>
                <a:lnTo>
                  <a:pt x="2007324" y="0"/>
                </a:lnTo>
                <a:lnTo>
                  <a:pt x="2007324" y="775557"/>
                </a:lnTo>
                <a:lnTo>
                  <a:pt x="0" y="77555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487852" y="6720559"/>
            <a:ext cx="942731" cy="1126398"/>
          </a:xfrm>
          <a:custGeom>
            <a:avLst/>
            <a:gdLst/>
            <a:ahLst/>
            <a:cxnLst/>
            <a:rect r="r" b="b" t="t" l="l"/>
            <a:pathLst>
              <a:path h="1126398" w="942731">
                <a:moveTo>
                  <a:pt x="0" y="0"/>
                </a:moveTo>
                <a:lnTo>
                  <a:pt x="942732" y="0"/>
                </a:lnTo>
                <a:lnTo>
                  <a:pt x="942732" y="1126398"/>
                </a:lnTo>
                <a:lnTo>
                  <a:pt x="0" y="1126398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-38595" t="0" r="-41555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277778" y="6850546"/>
            <a:ext cx="1552849" cy="971640"/>
          </a:xfrm>
          <a:custGeom>
            <a:avLst/>
            <a:gdLst/>
            <a:ahLst/>
            <a:cxnLst/>
            <a:rect r="r" b="b" t="t" l="l"/>
            <a:pathLst>
              <a:path h="971640" w="1552849">
                <a:moveTo>
                  <a:pt x="0" y="0"/>
                </a:moveTo>
                <a:lnTo>
                  <a:pt x="1552849" y="0"/>
                </a:lnTo>
                <a:lnTo>
                  <a:pt x="1552849" y="971640"/>
                </a:lnTo>
                <a:lnTo>
                  <a:pt x="0" y="971640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470796" y="6997275"/>
            <a:ext cx="2214698" cy="630199"/>
          </a:xfrm>
          <a:custGeom>
            <a:avLst/>
            <a:gdLst/>
            <a:ahLst/>
            <a:cxnLst/>
            <a:rect r="r" b="b" t="t" l="l"/>
            <a:pathLst>
              <a:path h="630199" w="2214698">
                <a:moveTo>
                  <a:pt x="0" y="0"/>
                </a:moveTo>
                <a:lnTo>
                  <a:pt x="2214698" y="0"/>
                </a:lnTo>
                <a:lnTo>
                  <a:pt x="2214698" y="630199"/>
                </a:lnTo>
                <a:lnTo>
                  <a:pt x="0" y="63019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AutoShape 21" id="21"/>
          <p:cNvSpPr/>
          <p:nvPr/>
        </p:nvSpPr>
        <p:spPr>
          <a:xfrm flipV="true">
            <a:off x="8130319" y="6798512"/>
            <a:ext cx="32606" cy="3413907"/>
          </a:xfrm>
          <a:prstGeom prst="line">
            <a:avLst/>
          </a:prstGeom>
          <a:ln cap="flat" w="38100">
            <a:solidFill>
              <a:srgbClr val="000000">
                <a:alpha val="16863"/>
              </a:srgbClr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Freeform 22" id="22"/>
          <p:cNvSpPr/>
          <p:nvPr/>
        </p:nvSpPr>
        <p:spPr>
          <a:xfrm flipH="false" flipV="false" rot="0">
            <a:off x="1028700" y="6284937"/>
            <a:ext cx="14268450" cy="190500"/>
          </a:xfrm>
          <a:custGeom>
            <a:avLst/>
            <a:gdLst/>
            <a:ahLst/>
            <a:cxnLst/>
            <a:rect r="r" b="b" t="t" l="l"/>
            <a:pathLst>
              <a:path h="190500" w="14268450">
                <a:moveTo>
                  <a:pt x="0" y="0"/>
                </a:moveTo>
                <a:lnTo>
                  <a:pt x="14268450" y="0"/>
                </a:lnTo>
                <a:lnTo>
                  <a:pt x="1426845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03369" y="3114426"/>
            <a:ext cx="1752076" cy="2025126"/>
          </a:xfrm>
          <a:custGeom>
            <a:avLst/>
            <a:gdLst/>
            <a:ahLst/>
            <a:cxnLst/>
            <a:rect r="r" b="b" t="t" l="l"/>
            <a:pathLst>
              <a:path h="2025126" w="1752076">
                <a:moveTo>
                  <a:pt x="0" y="0"/>
                </a:moveTo>
                <a:lnTo>
                  <a:pt x="1752075" y="0"/>
                </a:lnTo>
                <a:lnTo>
                  <a:pt x="1752075" y="2025126"/>
                </a:lnTo>
                <a:lnTo>
                  <a:pt x="0" y="202512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35699" y="3341968"/>
            <a:ext cx="887415" cy="910169"/>
          </a:xfrm>
          <a:custGeom>
            <a:avLst/>
            <a:gdLst/>
            <a:ahLst/>
            <a:cxnLst/>
            <a:rect r="r" b="b" t="t" l="l"/>
            <a:pathLst>
              <a:path h="910169" w="887415">
                <a:moveTo>
                  <a:pt x="0" y="0"/>
                </a:moveTo>
                <a:lnTo>
                  <a:pt x="887415" y="0"/>
                </a:lnTo>
                <a:lnTo>
                  <a:pt x="887415" y="910169"/>
                </a:lnTo>
                <a:lnTo>
                  <a:pt x="0" y="91016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2327902" y="4013218"/>
            <a:ext cx="1763453" cy="238919"/>
          </a:xfrm>
          <a:custGeom>
            <a:avLst/>
            <a:gdLst/>
            <a:ahLst/>
            <a:cxnLst/>
            <a:rect r="r" b="b" t="t" l="l"/>
            <a:pathLst>
              <a:path h="238919" w="1763453">
                <a:moveTo>
                  <a:pt x="0" y="0"/>
                </a:moveTo>
                <a:lnTo>
                  <a:pt x="1763453" y="0"/>
                </a:lnTo>
                <a:lnTo>
                  <a:pt x="1763453" y="238919"/>
                </a:lnTo>
                <a:lnTo>
                  <a:pt x="0" y="23891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3863813" y="3114426"/>
            <a:ext cx="1968241" cy="2025126"/>
          </a:xfrm>
          <a:custGeom>
            <a:avLst/>
            <a:gdLst/>
            <a:ahLst/>
            <a:cxnLst/>
            <a:rect r="r" b="b" t="t" l="l"/>
            <a:pathLst>
              <a:path h="2025126" w="1968241">
                <a:moveTo>
                  <a:pt x="0" y="0"/>
                </a:moveTo>
                <a:lnTo>
                  <a:pt x="1968240" y="0"/>
                </a:lnTo>
                <a:lnTo>
                  <a:pt x="1968240" y="2025126"/>
                </a:lnTo>
                <a:lnTo>
                  <a:pt x="0" y="2025126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296143" y="3341968"/>
            <a:ext cx="887415" cy="910169"/>
          </a:xfrm>
          <a:custGeom>
            <a:avLst/>
            <a:gdLst/>
            <a:ahLst/>
            <a:cxnLst/>
            <a:rect r="r" b="b" t="t" l="l"/>
            <a:pathLst>
              <a:path h="910169" w="887415">
                <a:moveTo>
                  <a:pt x="0" y="0"/>
                </a:moveTo>
                <a:lnTo>
                  <a:pt x="887415" y="0"/>
                </a:lnTo>
                <a:lnTo>
                  <a:pt x="887415" y="910169"/>
                </a:lnTo>
                <a:lnTo>
                  <a:pt x="0" y="91016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388346" y="4013218"/>
            <a:ext cx="1752076" cy="238919"/>
          </a:xfrm>
          <a:custGeom>
            <a:avLst/>
            <a:gdLst/>
            <a:ahLst/>
            <a:cxnLst/>
            <a:rect r="r" b="b" t="t" l="l"/>
            <a:pathLst>
              <a:path h="238919" w="1752076">
                <a:moveTo>
                  <a:pt x="0" y="0"/>
                </a:moveTo>
                <a:lnTo>
                  <a:pt x="1752076" y="0"/>
                </a:lnTo>
                <a:lnTo>
                  <a:pt x="1752076" y="238919"/>
                </a:lnTo>
                <a:lnTo>
                  <a:pt x="0" y="23891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912879" y="3114426"/>
            <a:ext cx="1979618" cy="2025126"/>
          </a:xfrm>
          <a:custGeom>
            <a:avLst/>
            <a:gdLst/>
            <a:ahLst/>
            <a:cxnLst/>
            <a:rect r="r" b="b" t="t" l="l"/>
            <a:pathLst>
              <a:path h="2025126" w="1979618">
                <a:moveTo>
                  <a:pt x="0" y="0"/>
                </a:moveTo>
                <a:lnTo>
                  <a:pt x="1979618" y="0"/>
                </a:lnTo>
                <a:lnTo>
                  <a:pt x="1979618" y="2025126"/>
                </a:lnTo>
                <a:lnTo>
                  <a:pt x="0" y="202512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7572752" y="3341968"/>
            <a:ext cx="659873" cy="910169"/>
          </a:xfrm>
          <a:custGeom>
            <a:avLst/>
            <a:gdLst/>
            <a:ahLst/>
            <a:cxnLst/>
            <a:rect r="r" b="b" t="t" l="l"/>
            <a:pathLst>
              <a:path h="910169" w="659873">
                <a:moveTo>
                  <a:pt x="0" y="0"/>
                </a:moveTo>
                <a:lnTo>
                  <a:pt x="659873" y="0"/>
                </a:lnTo>
                <a:lnTo>
                  <a:pt x="659873" y="910169"/>
                </a:lnTo>
                <a:lnTo>
                  <a:pt x="0" y="910169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8664955" y="4013218"/>
            <a:ext cx="1535910" cy="238919"/>
          </a:xfrm>
          <a:custGeom>
            <a:avLst/>
            <a:gdLst/>
            <a:ahLst/>
            <a:cxnLst/>
            <a:rect r="r" b="b" t="t" l="l"/>
            <a:pathLst>
              <a:path h="238919" w="1535910">
                <a:moveTo>
                  <a:pt x="0" y="0"/>
                </a:moveTo>
                <a:lnTo>
                  <a:pt x="1535911" y="0"/>
                </a:lnTo>
                <a:lnTo>
                  <a:pt x="1535911" y="238919"/>
                </a:lnTo>
                <a:lnTo>
                  <a:pt x="0" y="238919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9973323" y="3114426"/>
            <a:ext cx="1979618" cy="2025126"/>
          </a:xfrm>
          <a:custGeom>
            <a:avLst/>
            <a:gdLst/>
            <a:ahLst/>
            <a:cxnLst/>
            <a:rect r="r" b="b" t="t" l="l"/>
            <a:pathLst>
              <a:path h="2025126" w="1979618">
                <a:moveTo>
                  <a:pt x="0" y="0"/>
                </a:moveTo>
                <a:lnTo>
                  <a:pt x="1979618" y="0"/>
                </a:lnTo>
                <a:lnTo>
                  <a:pt x="1979618" y="2025126"/>
                </a:lnTo>
                <a:lnTo>
                  <a:pt x="0" y="2025126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417031" y="3341968"/>
            <a:ext cx="1092203" cy="1126334"/>
          </a:xfrm>
          <a:custGeom>
            <a:avLst/>
            <a:gdLst/>
            <a:ahLst/>
            <a:cxnLst/>
            <a:rect r="r" b="b" t="t" l="l"/>
            <a:pathLst>
              <a:path h="1126334" w="1092203">
                <a:moveTo>
                  <a:pt x="0" y="0"/>
                </a:moveTo>
                <a:lnTo>
                  <a:pt x="1092203" y="0"/>
                </a:lnTo>
                <a:lnTo>
                  <a:pt x="1092203" y="1126335"/>
                </a:lnTo>
                <a:lnTo>
                  <a:pt x="0" y="1126335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1725399" y="4013218"/>
            <a:ext cx="1535910" cy="238919"/>
          </a:xfrm>
          <a:custGeom>
            <a:avLst/>
            <a:gdLst/>
            <a:ahLst/>
            <a:cxnLst/>
            <a:rect r="r" b="b" t="t" l="l"/>
            <a:pathLst>
              <a:path h="238919" w="1535910">
                <a:moveTo>
                  <a:pt x="0" y="0"/>
                </a:moveTo>
                <a:lnTo>
                  <a:pt x="1535910" y="0"/>
                </a:lnTo>
                <a:lnTo>
                  <a:pt x="1535910" y="238919"/>
                </a:lnTo>
                <a:lnTo>
                  <a:pt x="0" y="238919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033767" y="3114426"/>
            <a:ext cx="1979618" cy="2025126"/>
          </a:xfrm>
          <a:custGeom>
            <a:avLst/>
            <a:gdLst/>
            <a:ahLst/>
            <a:cxnLst/>
            <a:rect r="r" b="b" t="t" l="l"/>
            <a:pathLst>
              <a:path h="2025126" w="1979618">
                <a:moveTo>
                  <a:pt x="0" y="0"/>
                </a:moveTo>
                <a:lnTo>
                  <a:pt x="1979618" y="0"/>
                </a:lnTo>
                <a:lnTo>
                  <a:pt x="1979618" y="2025126"/>
                </a:lnTo>
                <a:lnTo>
                  <a:pt x="0" y="2025126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13693640" y="3569510"/>
            <a:ext cx="876038" cy="682627"/>
          </a:xfrm>
          <a:custGeom>
            <a:avLst/>
            <a:gdLst/>
            <a:ahLst/>
            <a:cxnLst/>
            <a:rect r="r" b="b" t="t" l="l"/>
            <a:pathLst>
              <a:path h="682627" w="876038">
                <a:moveTo>
                  <a:pt x="0" y="0"/>
                </a:moveTo>
                <a:lnTo>
                  <a:pt x="876038" y="0"/>
                </a:lnTo>
                <a:lnTo>
                  <a:pt x="876038" y="682627"/>
                </a:lnTo>
                <a:lnTo>
                  <a:pt x="0" y="682627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3909805" y="4912010"/>
            <a:ext cx="443707" cy="682627"/>
          </a:xfrm>
          <a:custGeom>
            <a:avLst/>
            <a:gdLst/>
            <a:ahLst/>
            <a:cxnLst/>
            <a:rect r="r" b="b" t="t" l="l"/>
            <a:pathLst>
              <a:path h="682627" w="443707">
                <a:moveTo>
                  <a:pt x="0" y="0"/>
                </a:moveTo>
                <a:lnTo>
                  <a:pt x="443707" y="0"/>
                </a:lnTo>
                <a:lnTo>
                  <a:pt x="443707" y="682627"/>
                </a:lnTo>
                <a:lnTo>
                  <a:pt x="0" y="682627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7788917" y="4912010"/>
            <a:ext cx="227542" cy="682627"/>
          </a:xfrm>
          <a:custGeom>
            <a:avLst/>
            <a:gdLst/>
            <a:ahLst/>
            <a:cxnLst/>
            <a:rect r="r" b="b" t="t" l="l"/>
            <a:pathLst>
              <a:path h="682627" w="227542">
                <a:moveTo>
                  <a:pt x="0" y="0"/>
                </a:moveTo>
                <a:lnTo>
                  <a:pt x="227543" y="0"/>
                </a:lnTo>
                <a:lnTo>
                  <a:pt x="227543" y="682627"/>
                </a:lnTo>
                <a:lnTo>
                  <a:pt x="0" y="682627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6912879" y="5355717"/>
            <a:ext cx="1979618" cy="910169"/>
          </a:xfrm>
          <a:custGeom>
            <a:avLst/>
            <a:gdLst/>
            <a:ahLst/>
            <a:cxnLst/>
            <a:rect r="r" b="b" t="t" l="l"/>
            <a:pathLst>
              <a:path h="910169" w="1979618">
                <a:moveTo>
                  <a:pt x="0" y="0"/>
                </a:moveTo>
                <a:lnTo>
                  <a:pt x="1979618" y="0"/>
                </a:lnTo>
                <a:lnTo>
                  <a:pt x="1979618" y="910170"/>
                </a:lnTo>
                <a:lnTo>
                  <a:pt x="0" y="910170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6912879" y="5355717"/>
            <a:ext cx="455085" cy="682627"/>
          </a:xfrm>
          <a:custGeom>
            <a:avLst/>
            <a:gdLst/>
            <a:ahLst/>
            <a:cxnLst/>
            <a:rect r="r" b="b" t="t" l="l"/>
            <a:pathLst>
              <a:path h="682627" w="455085">
                <a:moveTo>
                  <a:pt x="0" y="0"/>
                </a:moveTo>
                <a:lnTo>
                  <a:pt x="455085" y="0"/>
                </a:lnTo>
                <a:lnTo>
                  <a:pt x="455085" y="682627"/>
                </a:lnTo>
                <a:lnTo>
                  <a:pt x="0" y="682627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13033767" y="5355717"/>
            <a:ext cx="2195783" cy="910169"/>
          </a:xfrm>
          <a:custGeom>
            <a:avLst/>
            <a:gdLst/>
            <a:ahLst/>
            <a:cxnLst/>
            <a:rect r="r" b="b" t="t" l="l"/>
            <a:pathLst>
              <a:path h="910169" w="2195783">
                <a:moveTo>
                  <a:pt x="0" y="0"/>
                </a:moveTo>
                <a:lnTo>
                  <a:pt x="2195783" y="0"/>
                </a:lnTo>
                <a:lnTo>
                  <a:pt x="2195783" y="910170"/>
                </a:lnTo>
                <a:lnTo>
                  <a:pt x="0" y="910170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 l="0" t="0" r="-6191" b="-6191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13249932" y="5355717"/>
            <a:ext cx="443707" cy="682627"/>
          </a:xfrm>
          <a:custGeom>
            <a:avLst/>
            <a:gdLst/>
            <a:ahLst/>
            <a:cxnLst/>
            <a:rect r="r" b="b" t="t" l="l"/>
            <a:pathLst>
              <a:path h="682627" w="443707">
                <a:moveTo>
                  <a:pt x="0" y="0"/>
                </a:moveTo>
                <a:lnTo>
                  <a:pt x="443708" y="0"/>
                </a:lnTo>
                <a:lnTo>
                  <a:pt x="443708" y="682627"/>
                </a:lnTo>
                <a:lnTo>
                  <a:pt x="0" y="682627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539605" y="2859618"/>
            <a:ext cx="314554" cy="34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2"/>
              </a:lnSpc>
            </a:pPr>
            <a:r>
              <a:rPr lang="en-US" sz="1944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632724" y="2874294"/>
            <a:ext cx="314554" cy="32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1902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725843" y="2854706"/>
            <a:ext cx="314554" cy="34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859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818961" y="2869382"/>
            <a:ext cx="314554" cy="329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4"/>
              </a:lnSpc>
            </a:pPr>
            <a:r>
              <a:rPr lang="en-US" sz="1817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3912080" y="2854706"/>
            <a:ext cx="314554" cy="34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859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539605" y="2859618"/>
            <a:ext cx="314554" cy="34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2"/>
              </a:lnSpc>
            </a:pPr>
            <a:r>
              <a:rPr lang="en-US" sz="1944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4632724" y="2874294"/>
            <a:ext cx="314554" cy="32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1902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725843" y="2854706"/>
            <a:ext cx="314554" cy="34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859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0818961" y="2869382"/>
            <a:ext cx="314554" cy="329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4"/>
              </a:lnSpc>
            </a:pPr>
            <a:r>
              <a:rPr lang="en-US" sz="1817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912080" y="2854706"/>
            <a:ext cx="314554" cy="34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859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39605" y="2859618"/>
            <a:ext cx="314554" cy="34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2"/>
              </a:lnSpc>
            </a:pPr>
            <a:r>
              <a:rPr lang="en-US" sz="1944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632724" y="2874294"/>
            <a:ext cx="314554" cy="32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1902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725843" y="2854706"/>
            <a:ext cx="314554" cy="34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859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0818961" y="2869382"/>
            <a:ext cx="314554" cy="329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4"/>
              </a:lnSpc>
            </a:pPr>
            <a:r>
              <a:rPr lang="en-US" sz="1817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912080" y="2854706"/>
            <a:ext cx="314554" cy="34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859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539605" y="2859618"/>
            <a:ext cx="314554" cy="34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2"/>
              </a:lnSpc>
            </a:pPr>
            <a:r>
              <a:rPr lang="en-US" sz="1944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632724" y="2874294"/>
            <a:ext cx="314554" cy="32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1902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725843" y="2854706"/>
            <a:ext cx="314554" cy="34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859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818961" y="2869382"/>
            <a:ext cx="314554" cy="329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4"/>
              </a:lnSpc>
            </a:pPr>
            <a:r>
              <a:rPr lang="en-US" sz="1817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912080" y="2854706"/>
            <a:ext cx="314554" cy="34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859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539605" y="2859618"/>
            <a:ext cx="314554" cy="34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2"/>
              </a:lnSpc>
            </a:pPr>
            <a:r>
              <a:rPr lang="en-US" sz="1944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4632724" y="2874294"/>
            <a:ext cx="314554" cy="32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1902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725843" y="2854706"/>
            <a:ext cx="314554" cy="34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859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818961" y="2869382"/>
            <a:ext cx="314554" cy="329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4"/>
              </a:lnSpc>
            </a:pPr>
            <a:r>
              <a:rPr lang="en-US" sz="1817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912080" y="2854706"/>
            <a:ext cx="314554" cy="34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859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539605" y="2859618"/>
            <a:ext cx="314554" cy="34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2"/>
              </a:lnSpc>
            </a:pPr>
            <a:r>
              <a:rPr lang="en-US" sz="1944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4632724" y="2874294"/>
            <a:ext cx="314554" cy="32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1902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725843" y="2854706"/>
            <a:ext cx="314554" cy="34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859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0818961" y="2869382"/>
            <a:ext cx="314554" cy="329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4"/>
              </a:lnSpc>
            </a:pPr>
            <a:r>
              <a:rPr lang="en-US" sz="1817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3912080" y="2854706"/>
            <a:ext cx="314554" cy="34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859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539605" y="2859618"/>
            <a:ext cx="314554" cy="34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2"/>
              </a:lnSpc>
            </a:pPr>
            <a:r>
              <a:rPr lang="en-US" sz="1944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632724" y="2874294"/>
            <a:ext cx="314554" cy="32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1902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7725843" y="2854706"/>
            <a:ext cx="314554" cy="34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859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0818961" y="2869382"/>
            <a:ext cx="314554" cy="329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4"/>
              </a:lnSpc>
            </a:pPr>
            <a:r>
              <a:rPr lang="en-US" sz="1817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3912080" y="2854706"/>
            <a:ext cx="314554" cy="34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859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539605" y="2859618"/>
            <a:ext cx="314554" cy="34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2"/>
              </a:lnSpc>
            </a:pPr>
            <a:r>
              <a:rPr lang="en-US" sz="1944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4632724" y="2874294"/>
            <a:ext cx="314554" cy="32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1902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7725843" y="2854706"/>
            <a:ext cx="314554" cy="34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859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818961" y="2869382"/>
            <a:ext cx="314554" cy="329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4"/>
              </a:lnSpc>
            </a:pPr>
            <a:r>
              <a:rPr lang="en-US" sz="1817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3912080" y="2854706"/>
            <a:ext cx="314554" cy="34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859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539605" y="2859618"/>
            <a:ext cx="314554" cy="34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2"/>
              </a:lnSpc>
            </a:pPr>
            <a:r>
              <a:rPr lang="en-US" sz="1944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4632724" y="2874294"/>
            <a:ext cx="314554" cy="32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1902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7725843" y="2854706"/>
            <a:ext cx="314554" cy="34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859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0818961" y="2869382"/>
            <a:ext cx="314554" cy="329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4"/>
              </a:lnSpc>
            </a:pPr>
            <a:r>
              <a:rPr lang="en-US" sz="1817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3912080" y="2854706"/>
            <a:ext cx="314554" cy="34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859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539605" y="2859618"/>
            <a:ext cx="314554" cy="3490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2"/>
              </a:lnSpc>
            </a:pPr>
            <a:r>
              <a:rPr lang="en-US" sz="1944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4632724" y="2874294"/>
            <a:ext cx="314554" cy="32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1902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7725843" y="2854706"/>
            <a:ext cx="314554" cy="34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859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0818961" y="2869382"/>
            <a:ext cx="314554" cy="329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4"/>
              </a:lnSpc>
            </a:pPr>
            <a:r>
              <a:rPr lang="en-US" sz="1817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3912080" y="2854706"/>
            <a:ext cx="314554" cy="34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859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539605" y="2859618"/>
            <a:ext cx="314554" cy="349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2"/>
              </a:lnSpc>
            </a:pPr>
            <a:r>
              <a:rPr lang="en-US" sz="1944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01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4632724" y="2874294"/>
            <a:ext cx="314554" cy="329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</a:pPr>
            <a:r>
              <a:rPr lang="en-US" sz="1902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02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7725843" y="2854706"/>
            <a:ext cx="314554" cy="34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859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03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0818961" y="2869382"/>
            <a:ext cx="314554" cy="329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44"/>
              </a:lnSpc>
            </a:pPr>
            <a:r>
              <a:rPr lang="en-US" sz="1817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04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13912080" y="2854706"/>
            <a:ext cx="314554" cy="349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3"/>
              </a:lnSpc>
            </a:pPr>
            <a:r>
              <a:rPr lang="en-US" sz="1859" b="true">
                <a:solidFill>
                  <a:srgbClr val="4B00C4"/>
                </a:solidFill>
                <a:latin typeface="Arial Bold"/>
                <a:ea typeface="Arial Bold"/>
                <a:cs typeface="Arial Bold"/>
                <a:sym typeface="Arial Bold"/>
              </a:rPr>
              <a:t>05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383336" y="2294082"/>
            <a:ext cx="6155899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5"/>
              </a:lnSpc>
            </a:pPr>
            <a:r>
              <a:rPr lang="en-US" b="true" sz="2938" spc="146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5-LAYER ARCHITECTURE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1053730" y="4162430"/>
            <a:ext cx="1285356" cy="52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3"/>
              </a:lnSpc>
            </a:pPr>
            <a:r>
              <a:rPr lang="en-US" b="true" sz="1694" spc="84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Patient Arrival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4171735" y="4296902"/>
            <a:ext cx="1378592" cy="50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4"/>
              </a:lnSpc>
            </a:pPr>
            <a:r>
              <a:rPr lang="en-US" b="true" sz="1603" spc="80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First 5 Minutes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7117277" y="4296902"/>
            <a:ext cx="1646899" cy="414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84"/>
              </a:lnSpc>
            </a:pPr>
            <a:r>
              <a:rPr lang="en-US" b="true" sz="1320" spc="66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Risk / Priority Assessment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0327356" y="4162430"/>
            <a:ext cx="1397219" cy="52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37"/>
              </a:lnSpc>
            </a:pPr>
            <a:r>
              <a:rPr lang="en-US" b="true" sz="1697" spc="84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Clinician Decision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3161864" y="4162430"/>
            <a:ext cx="1897152" cy="450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97"/>
              </a:lnSpc>
            </a:pPr>
            <a:r>
              <a:rPr lang="en-US" b="true" sz="1414" spc="70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Continuous Reassessment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7556493" y="5595938"/>
            <a:ext cx="977435" cy="37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3"/>
              </a:lnSpc>
            </a:pPr>
            <a:r>
              <a:rPr lang="en-US" b="true" sz="1219" spc="60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New patient information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3681758" y="5600553"/>
            <a:ext cx="1377259" cy="37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3"/>
              </a:lnSpc>
            </a:pPr>
            <a:r>
              <a:rPr lang="en-US" b="true" sz="1219" spc="60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New observations</a:t>
            </a:r>
          </a:p>
        </p:txBody>
      </p:sp>
      <p:sp>
        <p:nvSpPr>
          <p:cNvPr name="Freeform 106" id="106"/>
          <p:cNvSpPr/>
          <p:nvPr/>
        </p:nvSpPr>
        <p:spPr>
          <a:xfrm flipH="false" flipV="false" rot="0">
            <a:off x="2186352" y="2675568"/>
            <a:ext cx="3279084" cy="179676"/>
          </a:xfrm>
          <a:custGeom>
            <a:avLst/>
            <a:gdLst/>
            <a:ahLst/>
            <a:cxnLst/>
            <a:rect r="r" b="b" t="t" l="l"/>
            <a:pathLst>
              <a:path h="179676" w="3279084">
                <a:moveTo>
                  <a:pt x="0" y="0"/>
                </a:moveTo>
                <a:lnTo>
                  <a:pt x="3279084" y="0"/>
                </a:lnTo>
                <a:lnTo>
                  <a:pt x="3279084" y="179676"/>
                </a:lnTo>
                <a:lnTo>
                  <a:pt x="0" y="179676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 l="0" t="0" r="0" b="0"/>
            </a:stretch>
          </a:blipFill>
        </p:spPr>
      </p:sp>
      <p:sp>
        <p:nvSpPr>
          <p:cNvPr name="AutoShape 107" id="107"/>
          <p:cNvSpPr/>
          <p:nvPr/>
        </p:nvSpPr>
        <p:spPr>
          <a:xfrm flipV="true">
            <a:off x="8557737" y="7929999"/>
            <a:ext cx="8729477" cy="3033"/>
          </a:xfrm>
          <a:prstGeom prst="line">
            <a:avLst/>
          </a:prstGeom>
          <a:ln cap="flat" w="38100">
            <a:solidFill>
              <a:srgbClr val="000000">
                <a:alpha val="18824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8" id="108"/>
          <p:cNvSpPr/>
          <p:nvPr/>
        </p:nvSpPr>
        <p:spPr>
          <a:xfrm>
            <a:off x="10229597" y="9120748"/>
            <a:ext cx="5695299" cy="11316"/>
          </a:xfrm>
          <a:prstGeom prst="line">
            <a:avLst/>
          </a:prstGeom>
          <a:ln cap="flat" w="38100">
            <a:solidFill>
              <a:srgbClr val="000000">
                <a:alpha val="15686"/>
              </a:srgbClr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9" id="109"/>
          <p:cNvSpPr/>
          <p:nvPr/>
        </p:nvSpPr>
        <p:spPr>
          <a:xfrm flipH="false" flipV="false" rot="0">
            <a:off x="16187856" y="8138225"/>
            <a:ext cx="1603078" cy="1603078"/>
          </a:xfrm>
          <a:custGeom>
            <a:avLst/>
            <a:gdLst/>
            <a:ahLst/>
            <a:cxnLst/>
            <a:rect r="r" b="b" t="t" l="l"/>
            <a:pathLst>
              <a:path h="1603078" w="1603078">
                <a:moveTo>
                  <a:pt x="0" y="0"/>
                </a:moveTo>
                <a:lnTo>
                  <a:pt x="1603078" y="0"/>
                </a:lnTo>
                <a:lnTo>
                  <a:pt x="1603078" y="1603078"/>
                </a:lnTo>
                <a:lnTo>
                  <a:pt x="0" y="1603078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 l="0" t="0" r="0" b="0"/>
            </a:stretch>
          </a:blipFill>
        </p:spPr>
      </p:sp>
      <p:sp>
        <p:nvSpPr>
          <p:cNvPr name="TextBox 110" id="110"/>
          <p:cNvSpPr txBox="true"/>
          <p:nvPr/>
        </p:nvSpPr>
        <p:spPr>
          <a:xfrm rot="0">
            <a:off x="331127" y="224764"/>
            <a:ext cx="8612166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0"/>
              </a:lnSpc>
            </a:pPr>
            <a:r>
              <a:rPr lang="en-US" b="true" sz="4342" spc="217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SOLUTION — </a:t>
            </a:r>
            <a:r>
              <a:rPr lang="en-US" b="true" sz="4342" spc="217">
                <a:solidFill>
                  <a:srgbClr val="A100FF"/>
                </a:solidFill>
                <a:latin typeface="Arial Bold"/>
                <a:ea typeface="Arial Bold"/>
                <a:cs typeface="Arial Bold"/>
                <a:sym typeface="Arial Bold"/>
              </a:rPr>
              <a:t>MEDIPILOT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956491" y="8600896"/>
            <a:ext cx="121499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399" spc="11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GREEN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4592305" y="7403178"/>
            <a:ext cx="1517349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399" spc="11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YELLOW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4235305" y="8502674"/>
            <a:ext cx="2111283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b="true" sz="2399" spc="11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?  NOT SURE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4235305" y="8917232"/>
            <a:ext cx="290862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spc="75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Insufficient confidence — human review required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331127" y="1737731"/>
            <a:ext cx="1380053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9"/>
              </a:lnSpc>
            </a:pPr>
            <a:r>
              <a:rPr lang="en-US" sz="2007" spc="100" b="true">
                <a:solidFill>
                  <a:srgbClr val="9500FF"/>
                </a:solidFill>
                <a:latin typeface="Arial Bold"/>
                <a:ea typeface="Arial Bold"/>
                <a:cs typeface="Arial Bold"/>
                <a:sym typeface="Arial Bold"/>
              </a:rPr>
              <a:t>Core safety principle: </a:t>
            </a:r>
            <a:r>
              <a:rPr lang="en-US" sz="2007" spc="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It can move a patient </a:t>
            </a:r>
            <a:r>
              <a:rPr lang="en-US" sz="2007" spc="100" b="true">
                <a:solidFill>
                  <a:srgbClr val="9500FF"/>
                </a:solidFill>
                <a:latin typeface="Arial Bold"/>
                <a:ea typeface="Arial Bold"/>
                <a:cs typeface="Arial Bold"/>
                <a:sym typeface="Arial Bold"/>
              </a:rPr>
              <a:t>up</a:t>
            </a:r>
            <a:r>
              <a:rPr lang="en-US" sz="2007" spc="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the queue by itself. It can never move one </a:t>
            </a:r>
            <a:r>
              <a:rPr lang="en-US" sz="2007" spc="100" b="true">
                <a:solidFill>
                  <a:srgbClr val="222222"/>
                </a:solidFill>
                <a:latin typeface="Arial Bold"/>
                <a:ea typeface="Arial Bold"/>
                <a:cs typeface="Arial Bold"/>
                <a:sym typeface="Arial Bold"/>
              </a:rPr>
              <a:t>DOWN</a:t>
            </a:r>
            <a:r>
              <a:rPr lang="en-US" sz="2007" spc="1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 by itself.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956491" y="7403303"/>
            <a:ext cx="84628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2"/>
              </a:lnSpc>
            </a:pPr>
            <a:r>
              <a:rPr lang="en-US" b="true" sz="2419" spc="12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RED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599140" y="7827386"/>
            <a:ext cx="2534122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8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Highest urgency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599140" y="9008485"/>
            <a:ext cx="236848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spc="89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Lower urgency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4252821" y="7817736"/>
            <a:ext cx="1436796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89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Urgent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331127" y="9756902"/>
            <a:ext cx="757584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2"/>
              </a:lnSpc>
            </a:pPr>
            <a:r>
              <a:rPr lang="en-US" b="true" sz="1452" spc="7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AI ASSISTS. CLINICIANS DECIDE. The NOT SURE lane is not an error state — it is a safety mechanism that escalates uncertainty to human judgment.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331127" y="1093207"/>
            <a:ext cx="3028117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</a:t>
            </a:r>
            <a:r>
              <a:rPr lang="en-US" sz="3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It Works: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45149" y="291377"/>
            <a:ext cx="8616599" cy="64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1"/>
              </a:lnSpc>
            </a:pPr>
            <a:r>
              <a:rPr lang="en-US" sz="4621" b="true">
                <a:solidFill>
                  <a:srgbClr val="403E3E"/>
                </a:solidFill>
                <a:latin typeface="Arial Bold"/>
                <a:ea typeface="Arial Bold"/>
                <a:cs typeface="Arial Bold"/>
                <a:sym typeface="Arial Bold"/>
              </a:rPr>
              <a:t>WHY IS THIS DIFFERENT 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9013179" y="918652"/>
            <a:ext cx="297138" cy="9368348"/>
          </a:xfrm>
          <a:custGeom>
            <a:avLst/>
            <a:gdLst/>
            <a:ahLst/>
            <a:cxnLst/>
            <a:rect r="r" b="b" t="t" l="l"/>
            <a:pathLst>
              <a:path h="9368348" w="297138">
                <a:moveTo>
                  <a:pt x="0" y="0"/>
                </a:moveTo>
                <a:lnTo>
                  <a:pt x="297138" y="0"/>
                </a:lnTo>
                <a:lnTo>
                  <a:pt x="297138" y="9368348"/>
                </a:lnTo>
                <a:lnTo>
                  <a:pt x="0" y="93683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7389" r="0" b="-27389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729220" y="918652"/>
            <a:ext cx="297138" cy="9368348"/>
          </a:xfrm>
          <a:custGeom>
            <a:avLst/>
            <a:gdLst/>
            <a:ahLst/>
            <a:cxnLst/>
            <a:rect r="r" b="b" t="t" l="l"/>
            <a:pathLst>
              <a:path h="9368348" w="297138">
                <a:moveTo>
                  <a:pt x="0" y="0"/>
                </a:moveTo>
                <a:lnTo>
                  <a:pt x="297138" y="0"/>
                </a:lnTo>
                <a:lnTo>
                  <a:pt x="297138" y="9368348"/>
                </a:lnTo>
                <a:lnTo>
                  <a:pt x="0" y="9368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7389" r="0" b="-2738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77329" y="1085029"/>
            <a:ext cx="8458522" cy="2751632"/>
          </a:xfrm>
          <a:custGeom>
            <a:avLst/>
            <a:gdLst/>
            <a:ahLst/>
            <a:cxnLst/>
            <a:rect r="r" b="b" t="t" l="l"/>
            <a:pathLst>
              <a:path h="2751632" w="8458522">
                <a:moveTo>
                  <a:pt x="0" y="0"/>
                </a:moveTo>
                <a:lnTo>
                  <a:pt x="8458521" y="0"/>
                </a:lnTo>
                <a:lnTo>
                  <a:pt x="8458521" y="2751633"/>
                </a:lnTo>
                <a:lnTo>
                  <a:pt x="0" y="27516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7389" r="0" b="-2738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1986" y="1238609"/>
            <a:ext cx="871604" cy="499133"/>
          </a:xfrm>
          <a:custGeom>
            <a:avLst/>
            <a:gdLst/>
            <a:ahLst/>
            <a:cxnLst/>
            <a:rect r="r" b="b" t="t" l="l"/>
            <a:pathLst>
              <a:path h="499133" w="871604">
                <a:moveTo>
                  <a:pt x="0" y="0"/>
                </a:moveTo>
                <a:lnTo>
                  <a:pt x="871604" y="0"/>
                </a:lnTo>
                <a:lnTo>
                  <a:pt x="871604" y="499133"/>
                </a:lnTo>
                <a:lnTo>
                  <a:pt x="0" y="4991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7389" r="0" b="-2738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55397" y="1820434"/>
            <a:ext cx="4434484" cy="361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1"/>
              </a:lnSpc>
            </a:pPr>
            <a:r>
              <a:rPr lang="en-US" sz="2611" b="true">
                <a:solidFill>
                  <a:srgbClr val="403E3E"/>
                </a:solidFill>
                <a:latin typeface="Arial Bold"/>
                <a:ea typeface="Arial Bold"/>
                <a:cs typeface="Arial Bold"/>
                <a:sym typeface="Arial Bold"/>
              </a:rPr>
              <a:t>Re-Triage Every 5 Minutes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5397" y="2171406"/>
            <a:ext cx="7318701" cy="858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4"/>
              </a:lnSpc>
            </a:pPr>
            <a:r>
              <a:rPr lang="en-US" sz="2073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073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raditional triage is a one-time snapshot. MediPilot re-checks every five minutes — so deterioration doesn't go unnoticed.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77329" y="3823864"/>
            <a:ext cx="8458522" cy="2598053"/>
          </a:xfrm>
          <a:custGeom>
            <a:avLst/>
            <a:gdLst/>
            <a:ahLst/>
            <a:cxnLst/>
            <a:rect r="r" b="b" t="t" l="l"/>
            <a:pathLst>
              <a:path h="2598053" w="8458522">
                <a:moveTo>
                  <a:pt x="0" y="0"/>
                </a:moveTo>
                <a:lnTo>
                  <a:pt x="8458521" y="0"/>
                </a:lnTo>
                <a:lnTo>
                  <a:pt x="8458521" y="2598052"/>
                </a:lnTo>
                <a:lnTo>
                  <a:pt x="0" y="25980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27389" r="0" b="-2738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31986" y="3990241"/>
            <a:ext cx="871604" cy="499133"/>
          </a:xfrm>
          <a:custGeom>
            <a:avLst/>
            <a:gdLst/>
            <a:ahLst/>
            <a:cxnLst/>
            <a:rect r="r" b="b" t="t" l="l"/>
            <a:pathLst>
              <a:path h="499133" w="871604">
                <a:moveTo>
                  <a:pt x="0" y="0"/>
                </a:moveTo>
                <a:lnTo>
                  <a:pt x="871604" y="0"/>
                </a:lnTo>
                <a:lnTo>
                  <a:pt x="871604" y="499134"/>
                </a:lnTo>
                <a:lnTo>
                  <a:pt x="0" y="4991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7389" r="0" b="-27389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55397" y="4505771"/>
            <a:ext cx="3695403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600" b="true">
                <a:solidFill>
                  <a:srgbClr val="403E3E"/>
                </a:solidFill>
                <a:latin typeface="Arial Bold"/>
                <a:ea typeface="Arial Bold"/>
                <a:cs typeface="Arial Bold"/>
                <a:sym typeface="Arial Bold"/>
              </a:rPr>
              <a:t>Trained on Outcomes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5397" y="4867086"/>
            <a:ext cx="7228569" cy="126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Learns fr</a:t>
            </a: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om outcomes, not opinions. What</a:t>
            </a: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ha</a:t>
            </a: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ed</a:t>
            </a: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o th</a:t>
            </a: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e p</a:t>
            </a: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atient — not what was guessed in ninety seconds — is the ground truth it trains 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77329" y="6409118"/>
            <a:ext cx="8458522" cy="2431675"/>
          </a:xfrm>
          <a:custGeom>
            <a:avLst/>
            <a:gdLst/>
            <a:ahLst/>
            <a:cxnLst/>
            <a:rect r="r" b="b" t="t" l="l"/>
            <a:pathLst>
              <a:path h="2431675" w="8458522">
                <a:moveTo>
                  <a:pt x="0" y="0"/>
                </a:moveTo>
                <a:lnTo>
                  <a:pt x="8458521" y="0"/>
                </a:lnTo>
                <a:lnTo>
                  <a:pt x="8458521" y="2431675"/>
                </a:lnTo>
                <a:lnTo>
                  <a:pt x="0" y="243167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7389" r="0" b="-27389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31986" y="6729075"/>
            <a:ext cx="871604" cy="332756"/>
          </a:xfrm>
          <a:custGeom>
            <a:avLst/>
            <a:gdLst/>
            <a:ahLst/>
            <a:cxnLst/>
            <a:rect r="r" b="b" t="t" l="l"/>
            <a:pathLst>
              <a:path h="332756" w="871604">
                <a:moveTo>
                  <a:pt x="0" y="0"/>
                </a:moveTo>
                <a:lnTo>
                  <a:pt x="871604" y="0"/>
                </a:lnTo>
                <a:lnTo>
                  <a:pt x="871604" y="332756"/>
                </a:lnTo>
                <a:lnTo>
                  <a:pt x="0" y="3327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27389" r="0" b="-27389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55397" y="7201437"/>
            <a:ext cx="5029354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00"/>
              </a:lnSpc>
            </a:pPr>
            <a:r>
              <a:rPr lang="en-US" sz="2600" b="true">
                <a:solidFill>
                  <a:srgbClr val="403E3E"/>
                </a:solidFill>
                <a:latin typeface="Arial Bold"/>
                <a:ea typeface="Arial Bold"/>
                <a:cs typeface="Arial Bold"/>
                <a:sym typeface="Arial Bold"/>
              </a:rPr>
              <a:t>Knows When It Doesn't Know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5397" y="7572277"/>
            <a:ext cx="7480939" cy="83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And says so. </a:t>
            </a: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ot</a:t>
            </a: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sure</a:t>
            </a: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human</a:t>
            </a: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review,</a:t>
            </a: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 every time. Uncertainty is a feature, not a failure.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27785" y="1123129"/>
            <a:ext cx="6961568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true">
                <a:solidFill>
                  <a:srgbClr val="403E3E"/>
                </a:solidFill>
                <a:latin typeface="Arial Bold"/>
                <a:ea typeface="Arial Bold"/>
                <a:cs typeface="Arial Bold"/>
                <a:sym typeface="Arial Bold"/>
              </a:rPr>
              <a:t>WORST CASE SCENARIOS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290508" y="1571364"/>
            <a:ext cx="4239165" cy="1459005"/>
          </a:xfrm>
          <a:custGeom>
            <a:avLst/>
            <a:gdLst/>
            <a:ahLst/>
            <a:cxnLst/>
            <a:rect r="r" b="b" t="t" l="l"/>
            <a:pathLst>
              <a:path h="1459005" w="4239165">
                <a:moveTo>
                  <a:pt x="0" y="0"/>
                </a:moveTo>
                <a:lnTo>
                  <a:pt x="4239165" y="0"/>
                </a:lnTo>
                <a:lnTo>
                  <a:pt x="4239165" y="1459006"/>
                </a:lnTo>
                <a:lnTo>
                  <a:pt x="0" y="14590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27389" r="0" b="-27389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698181" y="1946894"/>
            <a:ext cx="2559743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2599" b="true">
                <a:solidFill>
                  <a:srgbClr val="403E3E"/>
                </a:solidFill>
                <a:latin typeface="Arial Bold"/>
                <a:ea typeface="Arial Bold"/>
                <a:cs typeface="Arial Bold"/>
                <a:sym typeface="Arial Bold"/>
              </a:rPr>
              <a:t>NO NETWORK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34233" y="2247747"/>
            <a:ext cx="2487637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Box keeps working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290508" y="3017571"/>
            <a:ext cx="4239165" cy="1625383"/>
          </a:xfrm>
          <a:custGeom>
            <a:avLst/>
            <a:gdLst/>
            <a:ahLst/>
            <a:cxnLst/>
            <a:rect r="r" b="b" t="t" l="l"/>
            <a:pathLst>
              <a:path h="1625383" w="4239165">
                <a:moveTo>
                  <a:pt x="0" y="0"/>
                </a:moveTo>
                <a:lnTo>
                  <a:pt x="4239165" y="0"/>
                </a:lnTo>
                <a:lnTo>
                  <a:pt x="4239165" y="1625383"/>
                </a:lnTo>
                <a:lnTo>
                  <a:pt x="0" y="162538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27389" r="0" b="-27389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734233" y="3269722"/>
            <a:ext cx="3170228" cy="43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9"/>
              </a:lnSpc>
            </a:pPr>
            <a:r>
              <a:rPr lang="en-US" sz="2599" b="true">
                <a:solidFill>
                  <a:srgbClr val="403E3E"/>
                </a:solidFill>
                <a:latin typeface="Arial Bold"/>
                <a:ea typeface="Arial Bold"/>
                <a:cs typeface="Arial Bold"/>
                <a:sym typeface="Arial Bold"/>
              </a:rPr>
              <a:t>MASS CASUALTY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3509864" y="1571364"/>
            <a:ext cx="4239165" cy="1459005"/>
          </a:xfrm>
          <a:custGeom>
            <a:avLst/>
            <a:gdLst/>
            <a:ahLst/>
            <a:cxnLst/>
            <a:rect r="r" b="b" t="t" l="l"/>
            <a:pathLst>
              <a:path h="1459005" w="4239165">
                <a:moveTo>
                  <a:pt x="0" y="0"/>
                </a:moveTo>
                <a:lnTo>
                  <a:pt x="4239165" y="0"/>
                </a:lnTo>
                <a:lnTo>
                  <a:pt x="4239165" y="1459006"/>
                </a:lnTo>
                <a:lnTo>
                  <a:pt x="0" y="14590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27389" r="0" b="-27389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920198" y="1954503"/>
            <a:ext cx="2595796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2599" b="true">
                <a:solidFill>
                  <a:srgbClr val="403E3E"/>
                </a:solidFill>
                <a:latin typeface="Arial Bold"/>
                <a:ea typeface="Arial Bold"/>
                <a:cs typeface="Arial Bold"/>
                <a:sym typeface="Arial Bold"/>
              </a:rPr>
              <a:t>MODEL DOWN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920198" y="2193909"/>
            <a:ext cx="3758793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Falls back to a p</a:t>
            </a: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rinted rule card.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3509864" y="3017571"/>
            <a:ext cx="4239165" cy="1625383"/>
          </a:xfrm>
          <a:custGeom>
            <a:avLst/>
            <a:gdLst/>
            <a:ahLst/>
            <a:cxnLst/>
            <a:rect r="r" b="b" t="t" l="l"/>
            <a:pathLst>
              <a:path h="1625383" w="4239165">
                <a:moveTo>
                  <a:pt x="0" y="0"/>
                </a:moveTo>
                <a:lnTo>
                  <a:pt x="4239165" y="0"/>
                </a:lnTo>
                <a:lnTo>
                  <a:pt x="4239165" y="1625383"/>
                </a:lnTo>
                <a:lnTo>
                  <a:pt x="0" y="162538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27389" r="0" b="-27389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970427" y="3342903"/>
            <a:ext cx="2289347" cy="351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2599" b="true">
                <a:solidFill>
                  <a:srgbClr val="403E3E"/>
                </a:solidFill>
                <a:latin typeface="Arial Bold"/>
                <a:ea typeface="Arial Bold"/>
                <a:cs typeface="Arial Bold"/>
                <a:sym typeface="Arial Bold"/>
              </a:rPr>
              <a:t>ESCALATION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58298" y="3558060"/>
            <a:ext cx="2557696" cy="83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Escalate lower, never downgrade alone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9290508" y="4796534"/>
            <a:ext cx="8458522" cy="166378"/>
          </a:xfrm>
          <a:custGeom>
            <a:avLst/>
            <a:gdLst/>
            <a:ahLst/>
            <a:cxnLst/>
            <a:rect r="r" b="b" t="t" l="l"/>
            <a:pathLst>
              <a:path h="166378" w="8458522">
                <a:moveTo>
                  <a:pt x="0" y="0"/>
                </a:moveTo>
                <a:lnTo>
                  <a:pt x="8458521" y="0"/>
                </a:lnTo>
                <a:lnTo>
                  <a:pt x="8458521" y="166377"/>
                </a:lnTo>
                <a:lnTo>
                  <a:pt x="0" y="16637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27389" r="0" b="-27389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9427785" y="5231268"/>
            <a:ext cx="3952269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3000" b="true">
                <a:solidFill>
                  <a:srgbClr val="403E3E"/>
                </a:solidFill>
                <a:latin typeface="Arial Bold"/>
                <a:ea typeface="Arial Bold"/>
                <a:cs typeface="Arial Bold"/>
                <a:sym typeface="Arial Bold"/>
              </a:rPr>
              <a:t>FEASIBILITY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7451891" y="5436448"/>
            <a:ext cx="574466" cy="499133"/>
          </a:xfrm>
          <a:custGeom>
            <a:avLst/>
            <a:gdLst/>
            <a:ahLst/>
            <a:cxnLst/>
            <a:rect r="r" b="b" t="t" l="l"/>
            <a:pathLst>
              <a:path h="499133" w="574466">
                <a:moveTo>
                  <a:pt x="0" y="0"/>
                </a:moveTo>
                <a:lnTo>
                  <a:pt x="574467" y="0"/>
                </a:lnTo>
                <a:lnTo>
                  <a:pt x="574467" y="499133"/>
                </a:lnTo>
                <a:lnTo>
                  <a:pt x="0" y="49913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27389" r="0" b="-27389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1699998" y="7367807"/>
            <a:ext cx="3659351" cy="756979"/>
            <a:chOff x="0" y="0"/>
            <a:chExt cx="4879134" cy="1009305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695831" y="38100"/>
              <a:ext cx="3509131" cy="5730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45"/>
                </a:lnSpc>
              </a:pPr>
              <a:r>
                <a:rPr lang="en-US" b="true" sz="3045">
                  <a:solidFill>
                    <a:srgbClr val="403E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 WEEKS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0" y="518027"/>
              <a:ext cx="4879134" cy="4912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600">
                  <a:solidFill>
                    <a:srgbClr val="403E3E"/>
                  </a:solidFill>
                  <a:latin typeface="Arial"/>
                  <a:ea typeface="Arial"/>
                  <a:cs typeface="Arial"/>
                  <a:sym typeface="Arial"/>
                </a:rPr>
                <a:t>to onboard a hospital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032594" y="8883870"/>
            <a:ext cx="3082507" cy="1018931"/>
            <a:chOff x="0" y="0"/>
            <a:chExt cx="4110010" cy="1358574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683813" y="57150"/>
              <a:ext cx="2571760" cy="7815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40"/>
                </a:lnSpc>
              </a:pPr>
              <a:r>
                <a:rPr lang="en-US" b="true" sz="4140">
                  <a:solidFill>
                    <a:srgbClr val="403E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₹15K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876821"/>
              <a:ext cx="4110010" cy="4817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99"/>
                </a:lnSpc>
              </a:pPr>
              <a:r>
                <a:rPr lang="en-US" sz="2599">
                  <a:solidFill>
                    <a:srgbClr val="403E3E"/>
                  </a:solidFill>
                  <a:latin typeface="Arial"/>
                  <a:ea typeface="Arial"/>
                  <a:cs typeface="Arial"/>
                  <a:sym typeface="Arial"/>
                </a:rPr>
                <a:t>mini-PC hardware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99608" y="1451394"/>
            <a:ext cx="306448" cy="281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7"/>
              </a:lnSpc>
            </a:pPr>
            <a:r>
              <a:rPr lang="en-US" sz="2077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99608" y="4134617"/>
            <a:ext cx="306448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14564" y="6774803"/>
            <a:ext cx="306448" cy="269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734233" y="3586098"/>
            <a:ext cx="2487637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0"/>
              </a:lnSpc>
            </a:pPr>
            <a:r>
              <a:rPr lang="en-US" sz="2000">
                <a:solidFill>
                  <a:srgbClr val="403E3E"/>
                </a:solidFill>
                <a:latin typeface="Arial"/>
                <a:ea typeface="Arial"/>
                <a:cs typeface="Arial"/>
                <a:sym typeface="Arial"/>
              </a:rPr>
              <a:t>Objective switches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2348055" y="5686015"/>
            <a:ext cx="2451585" cy="1075928"/>
            <a:chOff x="0" y="0"/>
            <a:chExt cx="3268780" cy="1434571"/>
          </a:xfrm>
        </p:grpSpPr>
        <p:sp>
          <p:nvSpPr>
            <p:cNvPr name="TextBox 43" id="43"/>
            <p:cNvSpPr txBox="true"/>
            <p:nvPr/>
          </p:nvSpPr>
          <p:spPr>
            <a:xfrm rot="0">
              <a:off x="528773" y="57150"/>
              <a:ext cx="2018952" cy="7815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40"/>
                </a:lnSpc>
              </a:pPr>
              <a:r>
                <a:rPr lang="en-US" b="true" sz="4140">
                  <a:solidFill>
                    <a:srgbClr val="403E3E"/>
                  </a:solidFill>
                  <a:latin typeface="Arial Bold"/>
                  <a:ea typeface="Arial Bold"/>
                  <a:cs typeface="Arial Bold"/>
                  <a:sym typeface="Arial Bold"/>
                </a:rPr>
                <a:t>&lt;₹5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0" y="943293"/>
              <a:ext cx="3268780" cy="4912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00"/>
                </a:lnSpc>
              </a:pPr>
              <a:r>
                <a:rPr lang="en-US" sz="2600">
                  <a:solidFill>
                    <a:srgbClr val="403E3E"/>
                  </a:solidFill>
                  <a:latin typeface="Arial"/>
                  <a:ea typeface="Arial"/>
                  <a:cs typeface="Arial"/>
                  <a:sym typeface="Arial"/>
                </a:rPr>
                <a:t>per encounter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6665" y="0"/>
            <a:ext cx="4065530" cy="789339"/>
            <a:chOff x="0" y="0"/>
            <a:chExt cx="1070757" cy="2078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70757" cy="207892"/>
            </a:xfrm>
            <a:custGeom>
              <a:avLst/>
              <a:gdLst/>
              <a:ahLst/>
              <a:cxnLst/>
              <a:rect r="r" b="b" t="t" l="l"/>
              <a:pathLst>
                <a:path h="207892" w="1070757">
                  <a:moveTo>
                    <a:pt x="96404" y="0"/>
                  </a:moveTo>
                  <a:lnTo>
                    <a:pt x="974352" y="0"/>
                  </a:lnTo>
                  <a:cubicBezTo>
                    <a:pt x="999920" y="0"/>
                    <a:pt x="1024441" y="10157"/>
                    <a:pt x="1042521" y="28236"/>
                  </a:cubicBezTo>
                  <a:cubicBezTo>
                    <a:pt x="1060600" y="46315"/>
                    <a:pt x="1070757" y="70836"/>
                    <a:pt x="1070757" y="96404"/>
                  </a:cubicBezTo>
                  <a:lnTo>
                    <a:pt x="1070757" y="111487"/>
                  </a:lnTo>
                  <a:cubicBezTo>
                    <a:pt x="1070757" y="137055"/>
                    <a:pt x="1060600" y="161576"/>
                    <a:pt x="1042521" y="179656"/>
                  </a:cubicBezTo>
                  <a:cubicBezTo>
                    <a:pt x="1024441" y="197735"/>
                    <a:pt x="999920" y="207892"/>
                    <a:pt x="974352" y="207892"/>
                  </a:cubicBezTo>
                  <a:lnTo>
                    <a:pt x="96404" y="207892"/>
                  </a:lnTo>
                  <a:cubicBezTo>
                    <a:pt x="70836" y="207892"/>
                    <a:pt x="46315" y="197735"/>
                    <a:pt x="28236" y="179656"/>
                  </a:cubicBezTo>
                  <a:cubicBezTo>
                    <a:pt x="10157" y="161576"/>
                    <a:pt x="0" y="137055"/>
                    <a:pt x="0" y="111487"/>
                  </a:cubicBezTo>
                  <a:lnTo>
                    <a:pt x="0" y="96404"/>
                  </a:lnTo>
                  <a:cubicBezTo>
                    <a:pt x="0" y="70836"/>
                    <a:pt x="10157" y="46315"/>
                    <a:pt x="28236" y="28236"/>
                  </a:cubicBezTo>
                  <a:cubicBezTo>
                    <a:pt x="46315" y="10157"/>
                    <a:pt x="70836" y="0"/>
                    <a:pt x="96404" y="0"/>
                  </a:cubicBezTo>
                  <a:close/>
                </a:path>
              </a:pathLst>
            </a:custGeom>
            <a:solidFill>
              <a:srgbClr val="FFFFFF"/>
            </a:solidFill>
            <a:ln w="28575" cap="rnd">
              <a:solidFill>
                <a:srgbClr val="A100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070757" cy="293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64"/>
                </a:lnSpc>
              </a:pPr>
              <a:r>
                <a:rPr lang="en-US" b="true" sz="3189">
                  <a:solidFill>
                    <a:srgbClr val="A100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Video</a:t>
              </a:r>
            </a:p>
          </p:txBody>
        </p:sp>
      </p:grp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840230" y="1028700"/>
            <a:ext cx="1460754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1A3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000500" y="-4000500"/>
            <a:ext cx="10287000" cy="18288000"/>
            <a:chOff x="0" y="0"/>
            <a:chExt cx="13716000" cy="24384000"/>
          </a:xfrm>
        </p:grpSpPr>
        <p:sp>
          <p:nvSpPr>
            <p:cNvPr name="Freeform 3" id="3" descr="A purple and black background  AI-generated content may be incorrect."/>
            <p:cNvSpPr/>
            <p:nvPr/>
          </p:nvSpPr>
          <p:spPr>
            <a:xfrm flipH="false" flipV="false" rot="0">
              <a:off x="0" y="0"/>
              <a:ext cx="13716000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13716000">
                  <a:moveTo>
                    <a:pt x="0" y="0"/>
                  </a:moveTo>
                  <a:lnTo>
                    <a:pt x="13716000" y="0"/>
                  </a:lnTo>
                  <a:lnTo>
                    <a:pt x="13716000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88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547865" y="9644777"/>
            <a:ext cx="3597135" cy="246831"/>
            <a:chOff x="0" y="0"/>
            <a:chExt cx="4796180" cy="3291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96184" cy="329101"/>
            </a:xfrm>
            <a:custGeom>
              <a:avLst/>
              <a:gdLst/>
              <a:ahLst/>
              <a:cxnLst/>
              <a:rect r="r" b="b" t="t" l="l"/>
              <a:pathLst>
                <a:path h="329101" w="4796184">
                  <a:moveTo>
                    <a:pt x="0" y="0"/>
                  </a:moveTo>
                  <a:lnTo>
                    <a:pt x="4796184" y="0"/>
                  </a:lnTo>
                  <a:lnTo>
                    <a:pt x="4796184" y="329101"/>
                  </a:lnTo>
                  <a:lnTo>
                    <a:pt x="0" y="3291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6557" r="0" b="-22137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4796180" cy="348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D9D9D9"/>
                  </a:solidFill>
                  <a:latin typeface="Arial"/>
                  <a:ea typeface="Arial"/>
                  <a:cs typeface="Arial"/>
                  <a:sym typeface="Arial"/>
                </a:rPr>
                <a:t>Copyright © 2026 Accenture. All rights reserved.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528943" y="9644777"/>
            <a:ext cx="187557" cy="246831"/>
            <a:chOff x="0" y="0"/>
            <a:chExt cx="250076" cy="3291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0070" cy="329101"/>
            </a:xfrm>
            <a:custGeom>
              <a:avLst/>
              <a:gdLst/>
              <a:ahLst/>
              <a:cxnLst/>
              <a:rect r="r" b="b" t="t" l="l"/>
              <a:pathLst>
                <a:path h="329101" w="250070">
                  <a:moveTo>
                    <a:pt x="0" y="0"/>
                  </a:moveTo>
                  <a:lnTo>
                    <a:pt x="250070" y="0"/>
                  </a:lnTo>
                  <a:lnTo>
                    <a:pt x="250070" y="329101"/>
                  </a:lnTo>
                  <a:lnTo>
                    <a:pt x="0" y="3291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6331" t="0" r="-76333" b="2518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50076" cy="34815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200">
                  <a:solidFill>
                    <a:srgbClr val="D9D9D9"/>
                  </a:solidFill>
                  <a:latin typeface="Arial"/>
                  <a:ea typeface="Arial"/>
                  <a:cs typeface="Arial"/>
                  <a:sym typeface="Arial"/>
                </a:rPr>
                <a:t>‹#›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42401" y="9575997"/>
            <a:ext cx="274939" cy="301752"/>
            <a:chOff x="0" y="0"/>
            <a:chExt cx="366586" cy="402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66649" cy="402336"/>
            </a:xfrm>
            <a:custGeom>
              <a:avLst/>
              <a:gdLst/>
              <a:ahLst/>
              <a:cxnLst/>
              <a:rect r="r" b="b" t="t" l="l"/>
              <a:pathLst>
                <a:path h="402336" w="366649">
                  <a:moveTo>
                    <a:pt x="0" y="402336"/>
                  </a:moveTo>
                  <a:lnTo>
                    <a:pt x="366649" y="253619"/>
                  </a:lnTo>
                  <a:lnTo>
                    <a:pt x="366649" y="148717"/>
                  </a:lnTo>
                  <a:lnTo>
                    <a:pt x="0" y="0"/>
                  </a:lnTo>
                  <a:lnTo>
                    <a:pt x="0" y="105029"/>
                  </a:lnTo>
                  <a:lnTo>
                    <a:pt x="236982" y="201168"/>
                  </a:lnTo>
                  <a:lnTo>
                    <a:pt x="0" y="297307"/>
                  </a:lnTo>
                  <a:lnTo>
                    <a:pt x="0" y="4023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787023" y="5143500"/>
            <a:ext cx="7785783" cy="2481649"/>
            <a:chOff x="0" y="0"/>
            <a:chExt cx="10381044" cy="33088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81046" cy="3308866"/>
            </a:xfrm>
            <a:custGeom>
              <a:avLst/>
              <a:gdLst/>
              <a:ahLst/>
              <a:cxnLst/>
              <a:rect r="r" b="b" t="t" l="l"/>
              <a:pathLst>
                <a:path h="3308866" w="10381046">
                  <a:moveTo>
                    <a:pt x="0" y="0"/>
                  </a:moveTo>
                  <a:lnTo>
                    <a:pt x="10381046" y="0"/>
                  </a:lnTo>
                  <a:lnTo>
                    <a:pt x="10381046" y="3308866"/>
                  </a:lnTo>
                  <a:lnTo>
                    <a:pt x="0" y="330886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366" r="0" b="9103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28600"/>
              <a:ext cx="10381044" cy="3080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sz="120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DAHScrFFkBQ</dc:identifier>
  <dcterms:modified xsi:type="dcterms:W3CDTF">2011-08-01T06:04:30Z</dcterms:modified>
  <cp:revision>1</cp:revision>
  <dc:title>Round I - Solution Framework | Problem Statements Artificial intelligence has moved from experimentation to the core of how modern enterprises operate — reshaping revenue streams, automating and augmenting everyday processes, and sharpening the speed and</dc:title>
</cp:coreProperties>
</file>