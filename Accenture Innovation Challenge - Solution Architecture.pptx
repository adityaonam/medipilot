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981575"/>
            <a:ext cx="11049000" cy="1714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810375"/>
            <a:ext cx="11049000" cy="5104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219325"/>
            <a:ext cx="1238250" cy="1238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4687" y="2219325"/>
            <a:ext cx="1238250" cy="1238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875" y="2219325"/>
            <a:ext cx="1238250" cy="1238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062" y="2219325"/>
            <a:ext cx="1238250" cy="1238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0" y="2219325"/>
            <a:ext cx="1238250" cy="1238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981575"/>
            <a:ext cx="5524500" cy="857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4981575"/>
            <a:ext cx="5524500" cy="857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838825"/>
            <a:ext cx="5524500" cy="857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5838825"/>
            <a:ext cx="5524500" cy="857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76875" y="1514475"/>
            <a:ext cx="1238250" cy="4381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0" y="3695700"/>
            <a:ext cx="1238250" cy="4381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38100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550" i="0" u="none">
                <a:solidFill>
                  <a:srgbClr val="111111"/>
                </a:solidFill>
                <a:latin typeface="Roboto Light"/>
              </a:rPr>
              <a:t>SOLUTION — 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876300"/>
            <a:ext cx="110490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A100FF"/>
                </a:solidFill>
                <a:latin typeface="Roboto"/>
              </a:rPr>
              <a:t>Core safety principle:</a:t>
            </a:r>
            <a:r>
              <a:rPr b="0" sz="1125" i="0" u="none">
                <a:solidFill>
                  <a:srgbClr val="555555"/>
                </a:solidFill>
                <a:latin typeface="Roboto"/>
              </a:rPr>
              <a:t> It can move a patient the queue by itself. It can </a:t>
            </a:r>
            <a:r>
              <a:rPr b="1" sz="1125" i="0" u="none">
                <a:solidFill>
                  <a:srgbClr val="555555"/>
                </a:solidFill>
                <a:latin typeface="Roboto"/>
              </a:rPr>
              <a:t>never</a:t>
            </a:r>
            <a:r>
              <a:rPr b="0" sz="1125" i="0" u="none">
                <a:solidFill>
                  <a:srgbClr val="555555"/>
                </a:solidFill>
                <a:latin typeface="Roboto"/>
              </a:rPr>
              <a:t> move one </a:t>
            </a:r>
            <a:r>
              <a:rPr b="1" sz="1125" i="0" u="none">
                <a:solidFill>
                  <a:srgbClr val="555555"/>
                </a:solidFill>
                <a:latin typeface="Roboto"/>
              </a:rPr>
              <a:t>DOWN</a:t>
            </a:r>
            <a:r>
              <a:rPr b="0" sz="1125" i="0" u="none">
                <a:solidFill>
                  <a:srgbClr val="555555"/>
                </a:solidFill>
                <a:latin typeface="Roboto"/>
              </a:rPr>
              <a:t> by itself.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1476375"/>
            <a:ext cx="11601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11111"/>
                </a:solidFill>
                <a:latin typeface="Roboto Light"/>
              </a:rPr>
              <a:t>5-LAYER ARCHITECTURE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90900" y="876300"/>
            <a:ext cx="26670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505325"/>
            <a:ext cx="116014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11111"/>
                </a:solidFill>
                <a:latin typeface="Roboto Light"/>
              </a:rPr>
              <a:t>TRIAGE LANES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525" y="6979890"/>
            <a:ext cx="171450" cy="171450"/>
          </a:xfrm>
          <a:prstGeom prst="roundRect">
            <a:avLst>
              <a:gd name="adj" fmla="val 16666"/>
            </a:avLst>
          </a:prstGeom>
          <a:noFill/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5850" y="6972300"/>
            <a:ext cx="874395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111111"/>
                </a:solidFill>
                <a:latin typeface="Roboto"/>
              </a:rPr>
              <a:t>AI ASSISTS. CLINICIANS DECIDE.</a:t>
            </a:r>
            <a:r>
              <a:rPr b="0" sz="1050" i="0" u="none">
                <a:solidFill>
                  <a:srgbClr val="333333"/>
                </a:solidFill>
                <a:latin typeface="Roboto"/>
              </a:rPr>
              <a:t> The NOT SURE lane is not an error state — it is a safety mechanism that escalates uncertainty to human judgment.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7800" y="2551807"/>
            <a:ext cx="2476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11111"/>
                </a:solidFill>
                <a:latin typeface="Roboto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1125" y="2828032"/>
            <a:ext cx="381000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75" i="0" u="none">
                <a:solidFill>
                  <a:srgbClr val="333333"/>
                </a:solidFill>
                <a:latin typeface="Roboto Medium"/>
              </a:rPr>
              <a:t>Patient</a:t>
            </a:r>
            <a:r>
              <a:t>
</a:t>
            </a:r>
            <a:r>
              <a:rPr b="0" sz="975" i="0" u="none">
                <a:solidFill>
                  <a:srgbClr val="333333"/>
                </a:solidFill>
                <a:latin typeface="Roboto Medium"/>
              </a:rPr>
              <a:t> Arrival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9987" y="2551807"/>
            <a:ext cx="2476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11111"/>
                </a:solidFill>
                <a:latin typeface="Roboto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4737" y="2828032"/>
            <a:ext cx="438150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75" i="0" u="none">
                <a:solidFill>
                  <a:srgbClr val="333333"/>
                </a:solidFill>
                <a:latin typeface="Roboto Medium"/>
              </a:rPr>
              <a:t>First 5</a:t>
            </a:r>
            <a:r>
              <a:t>
</a:t>
            </a:r>
            <a:r>
              <a:rPr b="0" sz="975" i="0" u="none">
                <a:solidFill>
                  <a:srgbClr val="333333"/>
                </a:solidFill>
                <a:latin typeface="Roboto Medium"/>
              </a:rPr>
              <a:t> Minutes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2175" y="2551807"/>
            <a:ext cx="2476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11111"/>
                </a:solidFill>
                <a:latin typeface="Robot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9287" y="2828032"/>
            <a:ext cx="733425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75" i="0" u="none">
                <a:solidFill>
                  <a:srgbClr val="333333"/>
                </a:solidFill>
                <a:latin typeface="Roboto Medium"/>
              </a:rPr>
              <a:t>Risk / Priority</a:t>
            </a:r>
            <a:r>
              <a:t>
</a:t>
            </a:r>
            <a:r>
              <a:rPr b="0" sz="975" i="0" u="none">
                <a:solidFill>
                  <a:srgbClr val="333333"/>
                </a:solidFill>
                <a:latin typeface="Roboto Medium"/>
              </a:rPr>
              <a:t> 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4362" y="2551807"/>
            <a:ext cx="2476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11111"/>
                </a:solidFill>
                <a:latin typeface="Robot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4825" y="2828032"/>
            <a:ext cx="466725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75" i="0" u="none">
                <a:solidFill>
                  <a:srgbClr val="333333"/>
                </a:solidFill>
                <a:latin typeface="Roboto Medium"/>
              </a:rPr>
              <a:t>Clinician</a:t>
            </a:r>
            <a:r>
              <a:t>
</a:t>
            </a:r>
            <a:r>
              <a:rPr b="0" sz="975" i="0" u="none">
                <a:solidFill>
                  <a:srgbClr val="333333"/>
                </a:solidFill>
                <a:latin typeface="Roboto Medium"/>
              </a:rPr>
              <a:t> 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96550" y="2551807"/>
            <a:ext cx="2476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11111"/>
                </a:solidFill>
                <a:latin typeface="Roboto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10800" y="2828032"/>
            <a:ext cx="819150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75" i="0" u="none">
                <a:solidFill>
                  <a:srgbClr val="333333"/>
                </a:solidFill>
                <a:latin typeface="Roboto Medium"/>
              </a:rPr>
              <a:t>Continuous</a:t>
            </a:r>
            <a:r>
              <a:t>
</a:t>
            </a:r>
            <a:r>
              <a:rPr b="0" sz="975" i="0" u="none">
                <a:solidFill>
                  <a:srgbClr val="333333"/>
                </a:solidFill>
                <a:latin typeface="Roboto Medium"/>
              </a:rPr>
              <a:t> Reassessment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625" y="5476875"/>
            <a:ext cx="5048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Roboto Medium"/>
              </a:rPr>
              <a:t>Highest urgency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4125" y="5476875"/>
            <a:ext cx="5048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11111"/>
                </a:solidFill>
                <a:latin typeface="Roboto Medium"/>
              </a:rPr>
              <a:t>Urgent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625" y="6334125"/>
            <a:ext cx="5048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Roboto Medium"/>
              </a:rPr>
              <a:t>Lower urgency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4125" y="6334125"/>
            <a:ext cx="5048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Roboto Medium"/>
              </a:rPr>
              <a:t>Insufficient confidence — human review required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625" y="52292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7275" y="5191125"/>
            <a:ext cx="366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FFFFF"/>
                </a:solidFill>
                <a:latin typeface="Roboto Medium"/>
              </a:rPr>
              <a:t>RED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34125" y="52292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1775" y="5191125"/>
            <a:ext cx="7524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11111"/>
                </a:solidFill>
                <a:latin typeface="Roboto Medium"/>
              </a:rPr>
              <a:t>YELLOW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625" y="60864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7275" y="6048375"/>
            <a:ext cx="6238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FFFFF"/>
                </a:solidFill>
                <a:latin typeface="Roboto Medium"/>
              </a:rPr>
              <a:t>GREEN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4125" y="6062662"/>
            <a:ext cx="857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oboto"/>
              </a:rPr>
              <a:t>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4150" y="6048375"/>
            <a:ext cx="933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FFFFF"/>
                </a:solidFill>
                <a:latin typeface="Roboto Medium"/>
              </a:rPr>
              <a:t>NOT SURE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2500" y="2833687"/>
            <a:ext cx="102870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